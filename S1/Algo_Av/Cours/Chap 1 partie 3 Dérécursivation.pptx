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8" r:id="rId11"/>
    <p:sldId id="265" r:id="rId12"/>
    <p:sldId id="266" r:id="rId13"/>
    <p:sldId id="267" r:id="rId14"/>
    <p:sldId id="269" r:id="rId15"/>
  </p:sldIdLst>
  <p:sldSz cx="9144000" cy="6858000" type="screen4x3"/>
  <p:notesSz cx="7104063" cy="10234613"/>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59" d="100"/>
          <a:sy n="59" d="100"/>
        </p:scale>
        <p:origin x="1500" y="52"/>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078427" cy="511731"/>
          </a:xfrm>
          <a:prstGeom prst="rect">
            <a:avLst/>
          </a:prstGeom>
        </p:spPr>
        <p:txBody>
          <a:bodyPr vert="horz" lIns="99075" tIns="49538" rIns="99075" bIns="49538" rtlCol="0"/>
          <a:lstStyle>
            <a:lvl1pPr algn="l">
              <a:defRPr sz="1300"/>
            </a:lvl1pPr>
          </a:lstStyle>
          <a:p>
            <a:endParaRPr lang="fr-FR"/>
          </a:p>
        </p:txBody>
      </p:sp>
      <p:sp>
        <p:nvSpPr>
          <p:cNvPr id="3" name="Espace réservé de la date 2"/>
          <p:cNvSpPr>
            <a:spLocks noGrp="1"/>
          </p:cNvSpPr>
          <p:nvPr>
            <p:ph type="dt" idx="1"/>
          </p:nvPr>
        </p:nvSpPr>
        <p:spPr>
          <a:xfrm>
            <a:off x="4023992" y="0"/>
            <a:ext cx="3078427" cy="511731"/>
          </a:xfrm>
          <a:prstGeom prst="rect">
            <a:avLst/>
          </a:prstGeom>
        </p:spPr>
        <p:txBody>
          <a:bodyPr vert="horz" lIns="99075" tIns="49538" rIns="99075" bIns="49538" rtlCol="0"/>
          <a:lstStyle>
            <a:lvl1pPr algn="r">
              <a:defRPr sz="1300"/>
            </a:lvl1pPr>
          </a:lstStyle>
          <a:p>
            <a:fld id="{0F797387-1DE0-4135-B501-FE75680E1EEC}" type="datetimeFigureOut">
              <a:rPr lang="fr-FR" smtClean="0"/>
              <a:pPr/>
              <a:t>19/10/2025</a:t>
            </a:fld>
            <a:endParaRPr lang="fr-FR"/>
          </a:p>
        </p:txBody>
      </p:sp>
      <p:sp>
        <p:nvSpPr>
          <p:cNvPr id="4" name="Espace réservé de l'image des diapositives 3"/>
          <p:cNvSpPr>
            <a:spLocks noGrp="1" noRot="1" noChangeAspect="1"/>
          </p:cNvSpPr>
          <p:nvPr>
            <p:ph type="sldImg" idx="2"/>
          </p:nvPr>
        </p:nvSpPr>
        <p:spPr>
          <a:xfrm>
            <a:off x="995363" y="768350"/>
            <a:ext cx="5113337" cy="3836988"/>
          </a:xfrm>
          <a:prstGeom prst="rect">
            <a:avLst/>
          </a:prstGeom>
          <a:noFill/>
          <a:ln w="12700">
            <a:solidFill>
              <a:prstClr val="black"/>
            </a:solidFill>
          </a:ln>
        </p:spPr>
        <p:txBody>
          <a:bodyPr vert="horz" lIns="99075" tIns="49538" rIns="99075" bIns="49538" rtlCol="0" anchor="ctr"/>
          <a:lstStyle/>
          <a:p>
            <a:endParaRPr lang="fr-FR"/>
          </a:p>
        </p:txBody>
      </p:sp>
      <p:sp>
        <p:nvSpPr>
          <p:cNvPr id="5" name="Espace réservé des commentaires 4"/>
          <p:cNvSpPr>
            <a:spLocks noGrp="1"/>
          </p:cNvSpPr>
          <p:nvPr>
            <p:ph type="body" sz="quarter" idx="3"/>
          </p:nvPr>
        </p:nvSpPr>
        <p:spPr>
          <a:xfrm>
            <a:off x="710407" y="4861441"/>
            <a:ext cx="5683250" cy="4605576"/>
          </a:xfrm>
          <a:prstGeom prst="rect">
            <a:avLst/>
          </a:prstGeom>
        </p:spPr>
        <p:txBody>
          <a:bodyPr vert="horz" lIns="99075" tIns="49538" rIns="99075" bIns="49538"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9721106"/>
            <a:ext cx="3078427" cy="511731"/>
          </a:xfrm>
          <a:prstGeom prst="rect">
            <a:avLst/>
          </a:prstGeom>
        </p:spPr>
        <p:txBody>
          <a:bodyPr vert="horz" lIns="99075" tIns="49538" rIns="99075" bIns="49538" rtlCol="0" anchor="b"/>
          <a:lstStyle>
            <a:lvl1pPr algn="l">
              <a:defRPr sz="1300"/>
            </a:lvl1pPr>
          </a:lstStyle>
          <a:p>
            <a:endParaRPr lang="fr-FR"/>
          </a:p>
        </p:txBody>
      </p:sp>
      <p:sp>
        <p:nvSpPr>
          <p:cNvPr id="7" name="Espace réservé du numéro de diapositive 6"/>
          <p:cNvSpPr>
            <a:spLocks noGrp="1"/>
          </p:cNvSpPr>
          <p:nvPr>
            <p:ph type="sldNum" sz="quarter" idx="5"/>
          </p:nvPr>
        </p:nvSpPr>
        <p:spPr>
          <a:xfrm>
            <a:off x="4023992" y="9721106"/>
            <a:ext cx="3078427" cy="511731"/>
          </a:xfrm>
          <a:prstGeom prst="rect">
            <a:avLst/>
          </a:prstGeom>
        </p:spPr>
        <p:txBody>
          <a:bodyPr vert="horz" lIns="99075" tIns="49538" rIns="99075" bIns="49538" rtlCol="0" anchor="b"/>
          <a:lstStyle>
            <a:lvl1pPr algn="r">
              <a:defRPr sz="1300"/>
            </a:lvl1pPr>
          </a:lstStyle>
          <a:p>
            <a:fld id="{2085287E-8276-42EC-973E-26160796CE45}" type="slidenum">
              <a:rPr lang="fr-FR" smtClean="0"/>
              <a:pPr/>
              <a:t>‹N°›</a:t>
            </a:fld>
            <a:endParaRPr lang="fr-F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normAutofit/>
          </a:bodyPr>
          <a:lstStyle/>
          <a:p>
            <a:endParaRPr lang="fr-FR" dirty="0"/>
          </a:p>
        </p:txBody>
      </p:sp>
      <p:sp>
        <p:nvSpPr>
          <p:cNvPr id="4" name="Espace réservé du numéro de diapositive 3"/>
          <p:cNvSpPr>
            <a:spLocks noGrp="1"/>
          </p:cNvSpPr>
          <p:nvPr>
            <p:ph type="sldNum" sz="quarter" idx="10"/>
          </p:nvPr>
        </p:nvSpPr>
        <p:spPr/>
        <p:txBody>
          <a:bodyPr/>
          <a:lstStyle/>
          <a:p>
            <a:fld id="{2085287E-8276-42EC-973E-26160796CE45}" type="slidenum">
              <a:rPr lang="fr-FR" smtClean="0"/>
              <a:pPr/>
              <a:t>4</a:t>
            </a:fld>
            <a:endParaRPr lang="fr-F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Cliquez pour modifier le style des sous-titres du masque</a:t>
            </a:r>
          </a:p>
        </p:txBody>
      </p:sp>
      <p:sp>
        <p:nvSpPr>
          <p:cNvPr id="4" name="Espace réservé de la date 3"/>
          <p:cNvSpPr>
            <a:spLocks noGrp="1"/>
          </p:cNvSpPr>
          <p:nvPr>
            <p:ph type="dt" sz="half" idx="10"/>
          </p:nvPr>
        </p:nvSpPr>
        <p:spPr/>
        <p:txBody>
          <a:bodyPr/>
          <a:lstStyle/>
          <a:p>
            <a:fld id="{DE05B2AD-EE43-439B-8161-BDA61569C307}" type="datetimeFigureOut">
              <a:rPr lang="fr-FR" smtClean="0"/>
              <a:pPr/>
              <a:t>19/10/2025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4440CD04-722D-4E41-B0F3-7EF90807C165}" type="slidenum">
              <a:rPr lang="fr-FR" smtClean="0"/>
              <a:pP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DE05B2AD-EE43-439B-8161-BDA61569C307}" type="datetimeFigureOut">
              <a:rPr lang="fr-FR" smtClean="0"/>
              <a:pPr/>
              <a:t>19/10/2025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4440CD04-722D-4E41-B0F3-7EF90807C165}" type="slidenum">
              <a:rPr lang="fr-FR" smtClean="0"/>
              <a:pP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722313" y="4406900"/>
            <a:ext cx="7772400" cy="1362075"/>
          </a:xfrm>
        </p:spPr>
        <p:txBody>
          <a:bodyPr anchor="t"/>
          <a:lstStyle>
            <a:lvl1pPr algn="l">
              <a:defRPr sz="4000" b="1" cap="all"/>
            </a:lvl1pPr>
          </a:lstStyle>
          <a:p>
            <a:r>
              <a:rPr lang="fr-FR"/>
              <a:t>Cliquez pour modifier le style du titre</a:t>
            </a:r>
          </a:p>
        </p:txBody>
      </p:sp>
      <p:sp>
        <p:nvSpPr>
          <p:cNvPr id="3" name="Espace réservé du texte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Espace réservé de la date 3"/>
          <p:cNvSpPr>
            <a:spLocks noGrp="1"/>
          </p:cNvSpPr>
          <p:nvPr>
            <p:ph type="dt" sz="half" idx="10"/>
          </p:nvPr>
        </p:nvSpPr>
        <p:spPr/>
        <p:txBody>
          <a:bodyPr/>
          <a:lstStyle/>
          <a:p>
            <a:fld id="{DE05B2AD-EE43-439B-8161-BDA61569C307}" type="datetimeFigureOut">
              <a:rPr lang="fr-FR" smtClean="0"/>
              <a:pPr/>
              <a:t>19/10/2025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4440CD04-722D-4E41-B0F3-7EF90807C165}" type="slidenum">
              <a:rPr lang="fr-FR" smtClean="0"/>
              <a:pPr/>
              <a:t>‹N°›</a:t>
            </a:fld>
            <a:endParaRPr lang="fr-F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DE05B2AD-EE43-439B-8161-BDA61569C307}" type="datetimeFigureOut">
              <a:rPr lang="fr-FR" smtClean="0"/>
              <a:pPr/>
              <a:t>19/10/2025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4440CD04-722D-4E41-B0F3-7EF90807C165}" type="slidenum">
              <a:rPr lang="fr-FR" smtClean="0"/>
              <a:pPr/>
              <a:t>‹N°›</a:t>
            </a:fld>
            <a:endParaRPr lang="fr-F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DE05B2AD-EE43-439B-8161-BDA61569C307}" type="datetimeFigureOut">
              <a:rPr lang="fr-FR" smtClean="0"/>
              <a:pPr/>
              <a:t>19/10/2025</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4440CD04-722D-4E41-B0F3-7EF90807C165}" type="slidenum">
              <a:rPr lang="fr-FR" smtClean="0"/>
              <a:pPr/>
              <a:t>‹N°›</a:t>
            </a:fld>
            <a:endParaRPr lang="fr-F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e la date 2"/>
          <p:cNvSpPr>
            <a:spLocks noGrp="1"/>
          </p:cNvSpPr>
          <p:nvPr>
            <p:ph type="dt" sz="half" idx="10"/>
          </p:nvPr>
        </p:nvSpPr>
        <p:spPr/>
        <p:txBody>
          <a:bodyPr/>
          <a:lstStyle/>
          <a:p>
            <a:fld id="{DE05B2AD-EE43-439B-8161-BDA61569C307}" type="datetimeFigureOut">
              <a:rPr lang="fr-FR" smtClean="0"/>
              <a:pPr/>
              <a:t>19/10/2025</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4440CD04-722D-4E41-B0F3-7EF90807C165}" type="slidenum">
              <a:rPr lang="fr-FR" smtClean="0"/>
              <a:pP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DE05B2AD-EE43-439B-8161-BDA61569C307}" type="datetimeFigureOut">
              <a:rPr lang="fr-FR" smtClean="0"/>
              <a:pPr/>
              <a:t>19/10/2025</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4440CD04-722D-4E41-B0F3-7EF90807C165}" type="slidenum">
              <a:rPr lang="fr-FR" smtClean="0"/>
              <a:pP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Espace réservé de la date 4"/>
          <p:cNvSpPr>
            <a:spLocks noGrp="1"/>
          </p:cNvSpPr>
          <p:nvPr>
            <p:ph type="dt" sz="half" idx="10"/>
          </p:nvPr>
        </p:nvSpPr>
        <p:spPr/>
        <p:txBody>
          <a:bodyPr/>
          <a:lstStyle/>
          <a:p>
            <a:fld id="{DE05B2AD-EE43-439B-8161-BDA61569C307}" type="datetimeFigureOut">
              <a:rPr lang="fr-FR" smtClean="0"/>
              <a:pPr/>
              <a:t>19/10/2025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4440CD04-722D-4E41-B0F3-7EF90807C165}" type="slidenum">
              <a:rPr lang="fr-FR" smtClean="0"/>
              <a:pP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Espace réservé de la date 4"/>
          <p:cNvSpPr>
            <a:spLocks noGrp="1"/>
          </p:cNvSpPr>
          <p:nvPr>
            <p:ph type="dt" sz="half" idx="10"/>
          </p:nvPr>
        </p:nvSpPr>
        <p:spPr/>
        <p:txBody>
          <a:bodyPr/>
          <a:lstStyle/>
          <a:p>
            <a:fld id="{DE05B2AD-EE43-439B-8161-BDA61569C307}" type="datetimeFigureOut">
              <a:rPr lang="fr-FR" smtClean="0"/>
              <a:pPr/>
              <a:t>19/10/2025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4440CD04-722D-4E41-B0F3-7EF90807C165}" type="slidenum">
              <a:rPr lang="fr-FR" smtClean="0"/>
              <a:pP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DE05B2AD-EE43-439B-8161-BDA61569C307}" type="datetimeFigureOut">
              <a:rPr lang="fr-FR" smtClean="0"/>
              <a:pPr/>
              <a:t>19/10/2025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4440CD04-722D-4E41-B0F3-7EF90807C165}" type="slidenum">
              <a:rPr lang="fr-FR" smtClean="0"/>
              <a:pP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629400" y="274638"/>
            <a:ext cx="2057400" cy="5851525"/>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457200" y="274638"/>
            <a:ext cx="6019800" cy="585152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DE05B2AD-EE43-439B-8161-BDA61569C307}" type="datetimeFigureOut">
              <a:rPr lang="fr-FR" smtClean="0"/>
              <a:pPr/>
              <a:t>19/10/2025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4440CD04-722D-4E41-B0F3-7EF90807C165}" type="slidenum">
              <a:rPr lang="fr-FR" smtClean="0"/>
              <a:pPr/>
              <a:t>‹N°›</a:t>
            </a:fld>
            <a:endParaRPr lang="fr-F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fr-FR"/>
              <a:t>Cliquez pour modifier le style du titre</a:t>
            </a:r>
          </a:p>
        </p:txBody>
      </p:sp>
      <p:sp>
        <p:nvSpPr>
          <p:cNvPr id="3" name="Espace réservé du texte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E05B2AD-EE43-439B-8161-BDA61569C307}" type="datetimeFigureOut">
              <a:rPr lang="fr-FR" smtClean="0"/>
              <a:pPr/>
              <a:t>19/10/2025</a:t>
            </a:fld>
            <a:endParaRPr lang="fr-FR"/>
          </a:p>
        </p:txBody>
      </p:sp>
      <p:sp>
        <p:nvSpPr>
          <p:cNvPr id="5" name="Espace réservé du pied de page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440CD04-722D-4E41-B0F3-7EF90807C165}" type="slidenum">
              <a:rPr lang="fr-FR" smtClean="0"/>
              <a:pPr/>
              <a:t>‹N°›</a:t>
            </a:fld>
            <a:endParaRPr lang="fr-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p:txBody>
          <a:bodyPr/>
          <a:lstStyle/>
          <a:p>
            <a:r>
              <a:rPr lang="fr-FR" dirty="0"/>
              <a:t>Récursivité et Paradigme Diviser pour Régner</a:t>
            </a:r>
          </a:p>
        </p:txBody>
      </p:sp>
      <p:sp>
        <p:nvSpPr>
          <p:cNvPr id="3" name="Sous-titre 2"/>
          <p:cNvSpPr>
            <a:spLocks noGrp="1"/>
          </p:cNvSpPr>
          <p:nvPr>
            <p:ph type="subTitle" idx="1"/>
          </p:nvPr>
        </p:nvSpPr>
        <p:spPr/>
        <p:txBody>
          <a:bodyPr>
            <a:normAutofit fontScale="70000" lnSpcReduction="20000"/>
          </a:bodyPr>
          <a:lstStyle/>
          <a:p>
            <a:r>
              <a:rPr lang="fr-FR" b="1" dirty="0"/>
              <a:t>Master : Cyber Sécurité et Intelligence Artificielle</a:t>
            </a:r>
          </a:p>
          <a:p>
            <a:r>
              <a:rPr lang="fr-FR" b="1" dirty="0"/>
              <a:t>CSIA</a:t>
            </a:r>
          </a:p>
          <a:p>
            <a:endParaRPr lang="fr-FR" b="1" dirty="0"/>
          </a:p>
          <a:p>
            <a:r>
              <a:rPr lang="fr-FR" b="1" dirty="0"/>
              <a:t>Année universitaire : 2025 / 2026</a:t>
            </a:r>
            <a:endParaRPr lang="fr-F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br>
              <a:rPr lang="fr-FR" dirty="0"/>
            </a:br>
            <a:r>
              <a:rPr lang="fr-FR" b="1" dirty="0"/>
              <a:t>PARTIE 3: La </a:t>
            </a:r>
            <a:r>
              <a:rPr lang="fr-FR" b="1" dirty="0" err="1"/>
              <a:t>dérécursivation</a:t>
            </a:r>
            <a:r>
              <a:rPr lang="fr-FR" b="1" dirty="0"/>
              <a:t> </a:t>
            </a:r>
          </a:p>
        </p:txBody>
      </p:sp>
      <p:sp>
        <p:nvSpPr>
          <p:cNvPr id="3" name="Espace réservé du contenu 2"/>
          <p:cNvSpPr>
            <a:spLocks noGrp="1"/>
          </p:cNvSpPr>
          <p:nvPr>
            <p:ph idx="1"/>
          </p:nvPr>
        </p:nvSpPr>
        <p:spPr/>
        <p:txBody>
          <a:bodyPr>
            <a:normAutofit/>
          </a:bodyPr>
          <a:lstStyle/>
          <a:p>
            <a:r>
              <a:rPr lang="fr-FR" dirty="0"/>
              <a:t>PLAN DE LA PARTIE III </a:t>
            </a:r>
          </a:p>
          <a:p>
            <a:pPr lvl="1"/>
            <a:r>
              <a:rPr lang="fr-FR" dirty="0"/>
              <a:t>Généralités </a:t>
            </a:r>
          </a:p>
          <a:p>
            <a:pPr lvl="1"/>
            <a:r>
              <a:rPr lang="fr-FR" dirty="0"/>
              <a:t>Élimination de la récursivité terminale simple </a:t>
            </a:r>
          </a:p>
          <a:p>
            <a:pPr lvl="1"/>
            <a:r>
              <a:rPr lang="fr-FR" dirty="0"/>
              <a:t>Élimination de la récursivité terminale multiple </a:t>
            </a:r>
          </a:p>
          <a:p>
            <a:pPr lvl="1"/>
            <a:r>
              <a:rPr lang="fr-FR" dirty="0"/>
              <a:t>Élimination de la récursivité non terminale simple </a:t>
            </a:r>
          </a:p>
          <a:p>
            <a:pPr lvl="1"/>
            <a:r>
              <a:rPr lang="fr-FR" dirty="0"/>
              <a:t>Élimination de la récursivité: Algorithme Général </a:t>
            </a:r>
          </a:p>
          <a:p>
            <a:pPr lvl="1"/>
            <a:r>
              <a:rPr lang="fr-FR" dirty="0"/>
              <a:t>Conclusion</a:t>
            </a:r>
          </a:p>
          <a:p>
            <a:endParaRPr lang="fr-F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pPr lvl="1" algn="ctr" rtl="0">
              <a:spcBef>
                <a:spcPct val="0"/>
              </a:spcBef>
            </a:pPr>
            <a:r>
              <a:rPr lang="fr-FR" sz="4000" b="1" kern="1200" dirty="0">
                <a:solidFill>
                  <a:schemeClr val="tx1"/>
                </a:solidFill>
                <a:latin typeface="+mj-lt"/>
                <a:ea typeface="+mj-ea"/>
                <a:cs typeface="+mj-cs"/>
              </a:rPr>
              <a:t>Généralités </a:t>
            </a:r>
          </a:p>
        </p:txBody>
      </p:sp>
      <p:sp>
        <p:nvSpPr>
          <p:cNvPr id="3" name="Espace réservé du contenu 2"/>
          <p:cNvSpPr>
            <a:spLocks noGrp="1"/>
          </p:cNvSpPr>
          <p:nvPr>
            <p:ph idx="1"/>
          </p:nvPr>
        </p:nvSpPr>
        <p:spPr>
          <a:xfrm>
            <a:off x="457200" y="1600200"/>
            <a:ext cx="8229600" cy="5043510"/>
          </a:xfrm>
        </p:spPr>
        <p:txBody>
          <a:bodyPr>
            <a:normAutofit fontScale="92500"/>
          </a:bodyPr>
          <a:lstStyle/>
          <a:p>
            <a:r>
              <a:rPr lang="fr-FR" dirty="0"/>
              <a:t>Au niveau de l’utilisateur: la récursivité permet d’écrire des algorithmes court et élégants. </a:t>
            </a:r>
          </a:p>
          <a:p>
            <a:r>
              <a:rPr lang="fr-FR" dirty="0"/>
              <a:t>Au niveau de la machine: le compilateur élimine toujours la récursivité (</a:t>
            </a:r>
            <a:r>
              <a:rPr lang="fr-FR" b="1" dirty="0" err="1"/>
              <a:t>Dérécursiver</a:t>
            </a:r>
            <a:r>
              <a:rPr lang="fr-FR" b="1" dirty="0"/>
              <a:t>) </a:t>
            </a:r>
            <a:r>
              <a:rPr lang="fr-FR" dirty="0"/>
              <a:t>en construisant un programme itératif (ensemble des instructions séquentielles) afin d’économiser l'espace de la pile d'exécution. </a:t>
            </a:r>
          </a:p>
          <a:p>
            <a:r>
              <a:rPr lang="fr-FR" b="1" dirty="0" err="1"/>
              <a:t>Dérécursiver</a:t>
            </a:r>
            <a:r>
              <a:rPr lang="fr-FR" b="1" dirty="0"/>
              <a:t>, </a:t>
            </a:r>
            <a:r>
              <a:rPr lang="fr-FR" dirty="0"/>
              <a:t>c’est transformer un algorithme récursif en un algorithme itératif équivalent ne contenant pas des appels récursifs </a:t>
            </a:r>
          </a:p>
          <a:p>
            <a:endParaRPr lang="fr-F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pPr lvl="1" algn="ctr" rtl="0">
              <a:spcBef>
                <a:spcPct val="0"/>
              </a:spcBef>
            </a:pPr>
            <a:r>
              <a:rPr lang="fr-FR" sz="4000" b="1" kern="1200" dirty="0">
                <a:solidFill>
                  <a:schemeClr val="tx1"/>
                </a:solidFill>
                <a:latin typeface="+mj-lt"/>
                <a:ea typeface="+mj-ea"/>
                <a:cs typeface="+mj-cs"/>
              </a:rPr>
              <a:t>Élimination de la récursivité terminale simple </a:t>
            </a:r>
          </a:p>
        </p:txBody>
      </p:sp>
      <p:sp>
        <p:nvSpPr>
          <p:cNvPr id="3" name="Espace réservé du contenu 2"/>
          <p:cNvSpPr>
            <a:spLocks noGrp="1"/>
          </p:cNvSpPr>
          <p:nvPr>
            <p:ph idx="1"/>
          </p:nvPr>
        </p:nvSpPr>
        <p:spPr>
          <a:xfrm>
            <a:off x="357158" y="1785926"/>
            <a:ext cx="8229600" cy="4357718"/>
          </a:xfrm>
        </p:spPr>
        <p:txBody>
          <a:bodyPr>
            <a:normAutofit fontScale="77500" lnSpcReduction="20000"/>
          </a:bodyPr>
          <a:lstStyle/>
          <a:p>
            <a:r>
              <a:rPr lang="fr-FR" b="1" dirty="0"/>
              <a:t>Rappel: </a:t>
            </a:r>
            <a:r>
              <a:rPr lang="fr-FR" dirty="0"/>
              <a:t>Un algorithme est dit récursif terminal s’il ne contient aucun traitement après un appel récursif. </a:t>
            </a:r>
          </a:p>
          <a:p>
            <a:endParaRPr lang="fr-FR" dirty="0"/>
          </a:p>
          <a:p>
            <a:pPr>
              <a:buNone/>
            </a:pPr>
            <a:r>
              <a:rPr lang="fr-FR" sz="3100" dirty="0"/>
              <a:t>Procédure </a:t>
            </a:r>
            <a:r>
              <a:rPr lang="fr-FR" sz="3100" b="1" dirty="0"/>
              <a:t>ALGO (X) </a:t>
            </a:r>
            <a:r>
              <a:rPr lang="fr-FR" sz="3100" dirty="0"/>
              <a:t>// Liste des paramètres </a:t>
            </a:r>
          </a:p>
          <a:p>
            <a:pPr>
              <a:buNone/>
            </a:pPr>
            <a:r>
              <a:rPr lang="fr-FR" sz="3100" dirty="0"/>
              <a:t>Si (</a:t>
            </a:r>
            <a:r>
              <a:rPr lang="fr-FR" sz="3100" b="1" dirty="0"/>
              <a:t>COND) alors </a:t>
            </a:r>
            <a:r>
              <a:rPr lang="fr-FR" sz="3100" dirty="0"/>
              <a:t>// Condition portant sur X </a:t>
            </a:r>
          </a:p>
          <a:p>
            <a:pPr>
              <a:buNone/>
            </a:pPr>
            <a:r>
              <a:rPr lang="fr-FR" sz="3100" b="1" dirty="0"/>
              <a:t>TRAIT1 </a:t>
            </a:r>
            <a:r>
              <a:rPr lang="fr-FR" sz="3100" dirty="0"/>
              <a:t>// Traitement de base de l’algorithme (dépendant de X) </a:t>
            </a:r>
          </a:p>
          <a:p>
            <a:pPr>
              <a:buNone/>
            </a:pPr>
            <a:r>
              <a:rPr lang="fr-FR" sz="3100" b="1" dirty="0"/>
              <a:t>ALGO (B(X)) </a:t>
            </a:r>
            <a:r>
              <a:rPr lang="fr-FR" sz="3100" dirty="0"/>
              <a:t>// B(X) représente la transformation des   paramètres </a:t>
            </a:r>
          </a:p>
          <a:p>
            <a:pPr>
              <a:buNone/>
            </a:pPr>
            <a:r>
              <a:rPr lang="fr-FR" sz="3100" dirty="0"/>
              <a:t>Sinon </a:t>
            </a:r>
          </a:p>
          <a:p>
            <a:pPr>
              <a:buNone/>
            </a:pPr>
            <a:r>
              <a:rPr lang="fr-FR" sz="3100" b="1" dirty="0"/>
              <a:t>TRAIT2 </a:t>
            </a:r>
            <a:r>
              <a:rPr lang="fr-FR" sz="3100" dirty="0"/>
              <a:t>// Traitement de terminaison (dépendant de X) </a:t>
            </a:r>
          </a:p>
          <a:p>
            <a:pPr>
              <a:buNone/>
            </a:pPr>
            <a:r>
              <a:rPr lang="fr-FR" sz="3100" dirty="0" err="1"/>
              <a:t>Fsi</a:t>
            </a:r>
            <a:r>
              <a:rPr lang="fr-FR" sz="3100" dirty="0"/>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b="1" dirty="0"/>
              <a:t>Élimination de la récursivité terminale simple </a:t>
            </a:r>
            <a:endParaRPr lang="fr-FR" dirty="0"/>
          </a:p>
        </p:txBody>
      </p:sp>
      <p:graphicFrame>
        <p:nvGraphicFramePr>
          <p:cNvPr id="4" name="Espace réservé du contenu 3"/>
          <p:cNvGraphicFramePr>
            <a:graphicFrameLocks noGrp="1"/>
          </p:cNvGraphicFramePr>
          <p:nvPr>
            <p:ph idx="1"/>
          </p:nvPr>
        </p:nvGraphicFramePr>
        <p:xfrm>
          <a:off x="457200" y="1600200"/>
          <a:ext cx="8229600" cy="4614882"/>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850110">
                <a:tc>
                  <a:txBody>
                    <a:bodyPr/>
                    <a:lstStyle/>
                    <a:p>
                      <a:endParaRPr lang="fr-FR" sz="2400" b="1" kern="1200" baseline="0" dirty="0">
                        <a:solidFill>
                          <a:schemeClr val="lt1"/>
                        </a:solidFill>
                        <a:latin typeface="+mn-lt"/>
                        <a:ea typeface="+mn-ea"/>
                        <a:cs typeface="+mn-cs"/>
                      </a:endParaRPr>
                    </a:p>
                    <a:p>
                      <a:r>
                        <a:rPr lang="fr-FR" sz="2400" b="1" kern="1200" baseline="0" dirty="0">
                          <a:solidFill>
                            <a:schemeClr val="lt1"/>
                          </a:solidFill>
                          <a:latin typeface="+mn-lt"/>
                          <a:ea typeface="+mn-ea"/>
                          <a:cs typeface="+mn-cs"/>
                        </a:rPr>
                        <a:t>Algorithme Récursif </a:t>
                      </a:r>
                      <a:endParaRPr lang="fr-FR" sz="2400" dirty="0"/>
                    </a:p>
                  </a:txBody>
                  <a:tcPr/>
                </a:tc>
                <a:tc>
                  <a:txBody>
                    <a:bodyPr/>
                    <a:lstStyle/>
                    <a:p>
                      <a:endParaRPr lang="fr-FR" sz="2400" b="1" kern="1200" baseline="0" dirty="0">
                        <a:solidFill>
                          <a:schemeClr val="lt1"/>
                        </a:solidFill>
                        <a:latin typeface="+mn-lt"/>
                        <a:ea typeface="+mn-ea"/>
                        <a:cs typeface="+mn-cs"/>
                      </a:endParaRPr>
                    </a:p>
                    <a:p>
                      <a:r>
                        <a:rPr lang="fr-FR" sz="2400" b="1" kern="1200" baseline="0" dirty="0">
                          <a:solidFill>
                            <a:schemeClr val="lt1"/>
                          </a:solidFill>
                          <a:latin typeface="+mn-lt"/>
                          <a:ea typeface="+mn-ea"/>
                          <a:cs typeface="+mn-cs"/>
                        </a:rPr>
                        <a:t>Algorithme Itératif </a:t>
                      </a:r>
                      <a:endParaRPr lang="fr-FR" sz="2400" b="0" dirty="0"/>
                    </a:p>
                  </a:txBody>
                  <a:tcPr/>
                </a:tc>
                <a:extLst>
                  <a:ext uri="{0D108BD9-81ED-4DB2-BD59-A6C34878D82A}">
                    <a16:rowId xmlns:a16="http://schemas.microsoft.com/office/drawing/2014/main" val="10000"/>
                  </a:ext>
                </a:extLst>
              </a:tr>
              <a:tr h="3764772">
                <a:tc>
                  <a:txBody>
                    <a:bodyPr/>
                    <a:lstStyle/>
                    <a:p>
                      <a:endParaRPr lang="fr-FR" sz="2400" kern="1200" baseline="0" dirty="0">
                        <a:solidFill>
                          <a:schemeClr val="dk1"/>
                        </a:solidFill>
                        <a:latin typeface="+mn-lt"/>
                        <a:ea typeface="+mn-ea"/>
                        <a:cs typeface="+mn-cs"/>
                      </a:endParaRPr>
                    </a:p>
                    <a:p>
                      <a:r>
                        <a:rPr lang="fr-FR" sz="2400" kern="1200" baseline="0" dirty="0">
                          <a:solidFill>
                            <a:schemeClr val="dk1"/>
                          </a:solidFill>
                          <a:latin typeface="+mn-lt"/>
                          <a:ea typeface="+mn-ea"/>
                          <a:cs typeface="+mn-cs"/>
                        </a:rPr>
                        <a:t>Procédure </a:t>
                      </a:r>
                      <a:r>
                        <a:rPr lang="fr-FR" sz="2400" b="1" kern="1200" baseline="0" dirty="0">
                          <a:solidFill>
                            <a:schemeClr val="dk1"/>
                          </a:solidFill>
                          <a:latin typeface="+mn-lt"/>
                          <a:ea typeface="+mn-ea"/>
                          <a:cs typeface="+mn-cs"/>
                        </a:rPr>
                        <a:t>ALGO-R (X) </a:t>
                      </a:r>
                    </a:p>
                    <a:p>
                      <a:r>
                        <a:rPr lang="fr-FR" sz="2400" kern="1200" baseline="0" dirty="0">
                          <a:solidFill>
                            <a:schemeClr val="dk1"/>
                          </a:solidFill>
                          <a:latin typeface="+mn-lt"/>
                          <a:ea typeface="+mn-ea"/>
                          <a:cs typeface="+mn-cs"/>
                        </a:rPr>
                        <a:t>Début </a:t>
                      </a:r>
                    </a:p>
                    <a:p>
                      <a:r>
                        <a:rPr lang="fr-FR" sz="2400" kern="1200" baseline="0" dirty="0">
                          <a:solidFill>
                            <a:schemeClr val="dk1"/>
                          </a:solidFill>
                          <a:latin typeface="+mn-lt"/>
                          <a:ea typeface="+mn-ea"/>
                          <a:cs typeface="+mn-cs"/>
                        </a:rPr>
                        <a:t>Si (</a:t>
                      </a:r>
                      <a:r>
                        <a:rPr lang="fr-FR" sz="2400" b="1" kern="1200" baseline="0" dirty="0">
                          <a:solidFill>
                            <a:schemeClr val="dk1"/>
                          </a:solidFill>
                          <a:latin typeface="+mn-lt"/>
                          <a:ea typeface="+mn-ea"/>
                          <a:cs typeface="+mn-cs"/>
                        </a:rPr>
                        <a:t>COND) </a:t>
                      </a:r>
                      <a:r>
                        <a:rPr lang="fr-FR" sz="2400" b="0" kern="1200" baseline="0" dirty="0">
                          <a:solidFill>
                            <a:schemeClr val="dk1"/>
                          </a:solidFill>
                          <a:latin typeface="+mn-lt"/>
                          <a:ea typeface="+mn-ea"/>
                          <a:cs typeface="+mn-cs"/>
                        </a:rPr>
                        <a:t>alors </a:t>
                      </a:r>
                    </a:p>
                    <a:p>
                      <a:r>
                        <a:rPr lang="fr-FR" sz="2400" b="1" kern="1200" baseline="0" dirty="0">
                          <a:solidFill>
                            <a:schemeClr val="dk1"/>
                          </a:solidFill>
                          <a:latin typeface="+mn-lt"/>
                          <a:ea typeface="+mn-ea"/>
                          <a:cs typeface="+mn-cs"/>
                        </a:rPr>
                        <a:t>TRAIT1 </a:t>
                      </a:r>
                    </a:p>
                    <a:p>
                      <a:r>
                        <a:rPr lang="fr-FR" sz="2400" b="1" kern="1200" baseline="0" dirty="0">
                          <a:solidFill>
                            <a:schemeClr val="dk1"/>
                          </a:solidFill>
                          <a:latin typeface="+mn-lt"/>
                          <a:ea typeface="+mn-ea"/>
                          <a:cs typeface="+mn-cs"/>
                        </a:rPr>
                        <a:t>ALGO-R (B(X)) </a:t>
                      </a:r>
                    </a:p>
                    <a:p>
                      <a:r>
                        <a:rPr lang="fr-FR" sz="2400" kern="1200" baseline="0" dirty="0">
                          <a:solidFill>
                            <a:schemeClr val="dk1"/>
                          </a:solidFill>
                          <a:latin typeface="+mn-lt"/>
                          <a:ea typeface="+mn-ea"/>
                          <a:cs typeface="+mn-cs"/>
                        </a:rPr>
                        <a:t>Sinon </a:t>
                      </a:r>
                    </a:p>
                    <a:p>
                      <a:r>
                        <a:rPr lang="fr-FR" sz="2400" b="1" kern="1200" baseline="0" dirty="0">
                          <a:solidFill>
                            <a:schemeClr val="dk1"/>
                          </a:solidFill>
                          <a:latin typeface="+mn-lt"/>
                          <a:ea typeface="+mn-ea"/>
                          <a:cs typeface="+mn-cs"/>
                        </a:rPr>
                        <a:t>TRAIT2 </a:t>
                      </a:r>
                    </a:p>
                    <a:p>
                      <a:r>
                        <a:rPr lang="fr-FR" sz="2400" kern="1200" baseline="0" dirty="0" err="1">
                          <a:solidFill>
                            <a:schemeClr val="dk1"/>
                          </a:solidFill>
                          <a:latin typeface="+mn-lt"/>
                          <a:ea typeface="+mn-ea"/>
                          <a:cs typeface="+mn-cs"/>
                        </a:rPr>
                        <a:t>Fsi</a:t>
                      </a:r>
                      <a:r>
                        <a:rPr lang="fr-FR" sz="2400" kern="1200" baseline="0" dirty="0">
                          <a:solidFill>
                            <a:schemeClr val="dk1"/>
                          </a:solidFill>
                          <a:latin typeface="+mn-lt"/>
                          <a:ea typeface="+mn-ea"/>
                          <a:cs typeface="+mn-cs"/>
                        </a:rPr>
                        <a:t> </a:t>
                      </a:r>
                    </a:p>
                    <a:p>
                      <a:r>
                        <a:rPr lang="fr-FR" sz="2400" kern="1200" baseline="0" dirty="0">
                          <a:solidFill>
                            <a:schemeClr val="dk1"/>
                          </a:solidFill>
                          <a:latin typeface="+mn-lt"/>
                          <a:ea typeface="+mn-ea"/>
                          <a:cs typeface="+mn-cs"/>
                        </a:rPr>
                        <a:t>Fin </a:t>
                      </a:r>
                      <a:endParaRPr lang="fr-FR" sz="2400" dirty="0"/>
                    </a:p>
                  </a:txBody>
                  <a:tcPr/>
                </a:tc>
                <a:tc>
                  <a:txBody>
                    <a:bodyPr/>
                    <a:lstStyle/>
                    <a:p>
                      <a:endParaRPr lang="fr-FR" sz="2400" kern="1200" baseline="0" dirty="0">
                        <a:solidFill>
                          <a:schemeClr val="dk1"/>
                        </a:solidFill>
                        <a:latin typeface="+mn-lt"/>
                        <a:ea typeface="+mn-ea"/>
                        <a:cs typeface="+mn-cs"/>
                      </a:endParaRPr>
                    </a:p>
                    <a:p>
                      <a:r>
                        <a:rPr lang="fr-FR" sz="2400" b="0" kern="1200" baseline="0" dirty="0">
                          <a:solidFill>
                            <a:schemeClr val="dk1"/>
                          </a:solidFill>
                          <a:latin typeface="+mn-lt"/>
                          <a:ea typeface="+mn-ea"/>
                          <a:cs typeface="+mn-cs"/>
                        </a:rPr>
                        <a:t>Procédure</a:t>
                      </a:r>
                      <a:r>
                        <a:rPr lang="fr-FR" sz="2400" b="1" kern="1200" baseline="0" dirty="0">
                          <a:solidFill>
                            <a:schemeClr val="dk1"/>
                          </a:solidFill>
                          <a:latin typeface="+mn-lt"/>
                          <a:ea typeface="+mn-ea"/>
                          <a:cs typeface="+mn-cs"/>
                        </a:rPr>
                        <a:t> ALGO-I (X) </a:t>
                      </a:r>
                    </a:p>
                    <a:p>
                      <a:r>
                        <a:rPr lang="fr-FR" sz="2400" b="1" kern="1200" baseline="0" dirty="0">
                          <a:solidFill>
                            <a:schemeClr val="dk1"/>
                          </a:solidFill>
                          <a:latin typeface="+mn-lt"/>
                          <a:ea typeface="+mn-ea"/>
                          <a:cs typeface="+mn-cs"/>
                        </a:rPr>
                        <a:t>Début </a:t>
                      </a:r>
                    </a:p>
                    <a:p>
                      <a:r>
                        <a:rPr lang="fr-FR" sz="2400" b="1" kern="1200" baseline="0" dirty="0">
                          <a:solidFill>
                            <a:schemeClr val="dk1"/>
                          </a:solidFill>
                          <a:latin typeface="+mn-lt"/>
                          <a:ea typeface="+mn-ea"/>
                          <a:cs typeface="+mn-cs"/>
                        </a:rPr>
                        <a:t>Tant que (COND) faire </a:t>
                      </a:r>
                    </a:p>
                    <a:p>
                      <a:r>
                        <a:rPr lang="fr-FR" sz="2400" b="1" kern="1200" baseline="0" dirty="0">
                          <a:solidFill>
                            <a:schemeClr val="dk1"/>
                          </a:solidFill>
                          <a:latin typeface="+mn-lt"/>
                          <a:ea typeface="+mn-ea"/>
                          <a:cs typeface="+mn-cs"/>
                        </a:rPr>
                        <a:t>TRAIT1 </a:t>
                      </a:r>
                    </a:p>
                    <a:p>
                      <a:r>
                        <a:rPr lang="fr-FR" sz="2400" b="1" kern="1200" baseline="0" dirty="0">
                          <a:solidFill>
                            <a:schemeClr val="dk1"/>
                          </a:solidFill>
                          <a:latin typeface="+mn-lt"/>
                          <a:ea typeface="+mn-ea"/>
                          <a:cs typeface="+mn-cs"/>
                        </a:rPr>
                        <a:t>X</a:t>
                      </a:r>
                      <a:r>
                        <a:rPr lang="fr-FR" sz="2400" b="1" kern="1200" baseline="0" dirty="0">
                          <a:solidFill>
                            <a:schemeClr val="dk1"/>
                          </a:solidFill>
                          <a:latin typeface="+mn-lt"/>
                          <a:ea typeface="+mn-ea"/>
                          <a:cs typeface="+mn-cs"/>
                          <a:sym typeface="Wingdings" pitchFamily="2" charset="2"/>
                        </a:rPr>
                        <a:t></a:t>
                      </a:r>
                      <a:r>
                        <a:rPr lang="fr-FR" sz="2400" b="1" kern="1200" baseline="0" dirty="0">
                          <a:solidFill>
                            <a:schemeClr val="dk1"/>
                          </a:solidFill>
                          <a:latin typeface="+mn-lt"/>
                          <a:ea typeface="+mn-ea"/>
                          <a:cs typeface="+mn-cs"/>
                        </a:rPr>
                        <a:t>B(X) </a:t>
                      </a:r>
                    </a:p>
                    <a:p>
                      <a:r>
                        <a:rPr lang="fr-FR" sz="2400" b="1" kern="1200" baseline="0" dirty="0">
                          <a:solidFill>
                            <a:schemeClr val="dk1"/>
                          </a:solidFill>
                          <a:latin typeface="+mn-lt"/>
                          <a:ea typeface="+mn-ea"/>
                          <a:cs typeface="+mn-cs"/>
                        </a:rPr>
                        <a:t>FTQ </a:t>
                      </a:r>
                    </a:p>
                    <a:p>
                      <a:r>
                        <a:rPr lang="fr-FR" sz="2400" b="1" kern="1200" baseline="0" dirty="0">
                          <a:solidFill>
                            <a:schemeClr val="dk1"/>
                          </a:solidFill>
                          <a:latin typeface="+mn-lt"/>
                          <a:ea typeface="+mn-ea"/>
                          <a:cs typeface="+mn-cs"/>
                        </a:rPr>
                        <a:t>TRAIT2</a:t>
                      </a:r>
                    </a:p>
                    <a:p>
                      <a:r>
                        <a:rPr lang="fr-FR" sz="2400" b="0" kern="1200" baseline="0" dirty="0">
                          <a:solidFill>
                            <a:schemeClr val="dk1"/>
                          </a:solidFill>
                          <a:latin typeface="+mn-lt"/>
                          <a:ea typeface="+mn-ea"/>
                          <a:cs typeface="+mn-cs"/>
                        </a:rPr>
                        <a:t> Fin </a:t>
                      </a:r>
                      <a:endParaRPr lang="fr-FR" sz="2400" b="0" dirty="0"/>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sz="3200" b="1" dirty="0"/>
              <a:t>Élimination de la récursivité terminale simple </a:t>
            </a:r>
            <a:br>
              <a:rPr lang="fr-FR" sz="3200" b="1" dirty="0"/>
            </a:br>
            <a:r>
              <a:rPr lang="fr-FR" sz="3200" b="1" dirty="0"/>
              <a:t>Exemple : factorielle</a:t>
            </a:r>
            <a:endParaRPr lang="fr-FR" sz="3200" dirty="0"/>
          </a:p>
        </p:txBody>
      </p:sp>
      <p:graphicFrame>
        <p:nvGraphicFramePr>
          <p:cNvPr id="4" name="Espace réservé du contenu 3"/>
          <p:cNvGraphicFramePr>
            <a:graphicFrameLocks noGrp="1"/>
          </p:cNvGraphicFramePr>
          <p:nvPr>
            <p:ph idx="1"/>
          </p:nvPr>
        </p:nvGraphicFramePr>
        <p:xfrm>
          <a:off x="457200" y="1600200"/>
          <a:ext cx="8229600" cy="4829196"/>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96583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2400" b="1" kern="1200" baseline="0" dirty="0">
                          <a:solidFill>
                            <a:schemeClr val="lt1"/>
                          </a:solidFill>
                          <a:latin typeface="+mn-lt"/>
                          <a:ea typeface="+mn-ea"/>
                          <a:cs typeface="+mn-cs"/>
                        </a:rPr>
                        <a:t>Algorithme Récursif </a:t>
                      </a:r>
                      <a:endParaRPr lang="fr-FR" sz="24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2400" b="1" kern="1200" baseline="0" dirty="0">
                          <a:solidFill>
                            <a:schemeClr val="lt1"/>
                          </a:solidFill>
                          <a:latin typeface="+mn-lt"/>
                          <a:ea typeface="+mn-ea"/>
                          <a:cs typeface="+mn-cs"/>
                        </a:rPr>
                        <a:t>Algorithme Itératif </a:t>
                      </a:r>
                      <a:endParaRPr lang="fr-FR" sz="2400" b="0" dirty="0"/>
                    </a:p>
                    <a:p>
                      <a:endParaRPr lang="fr-FR" sz="2400" dirty="0"/>
                    </a:p>
                  </a:txBody>
                  <a:tcPr/>
                </a:tc>
                <a:extLst>
                  <a:ext uri="{0D108BD9-81ED-4DB2-BD59-A6C34878D82A}">
                    <a16:rowId xmlns:a16="http://schemas.microsoft.com/office/drawing/2014/main" val="10000"/>
                  </a:ext>
                </a:extLst>
              </a:tr>
              <a:tr h="3863357">
                <a:tc>
                  <a:txBody>
                    <a:bodyPr/>
                    <a:lstStyle/>
                    <a:p>
                      <a:r>
                        <a:rPr lang="fr-FR" sz="2400" kern="1200" baseline="0" dirty="0">
                          <a:solidFill>
                            <a:schemeClr val="dk1"/>
                          </a:solidFill>
                          <a:latin typeface="+mn-lt"/>
                          <a:ea typeface="+mn-ea"/>
                          <a:cs typeface="+mn-cs"/>
                        </a:rPr>
                        <a:t>Fonction </a:t>
                      </a:r>
                      <a:r>
                        <a:rPr lang="fr-FR" sz="2400" b="1" kern="1200" baseline="0" dirty="0" err="1">
                          <a:solidFill>
                            <a:schemeClr val="dk1"/>
                          </a:solidFill>
                          <a:latin typeface="+mn-lt"/>
                          <a:ea typeface="+mn-ea"/>
                          <a:cs typeface="+mn-cs"/>
                        </a:rPr>
                        <a:t>Facto-R</a:t>
                      </a:r>
                      <a:r>
                        <a:rPr lang="fr-FR" sz="2400" b="1" kern="1200" baseline="0" dirty="0">
                          <a:solidFill>
                            <a:schemeClr val="dk1"/>
                          </a:solidFill>
                          <a:latin typeface="+mn-lt"/>
                          <a:ea typeface="+mn-ea"/>
                          <a:cs typeface="+mn-cs"/>
                        </a:rPr>
                        <a:t> (n, </a:t>
                      </a:r>
                      <a:r>
                        <a:rPr lang="fr-FR" sz="2400" b="1" kern="1200" baseline="0" dirty="0" err="1">
                          <a:solidFill>
                            <a:schemeClr val="dk1"/>
                          </a:solidFill>
                          <a:latin typeface="+mn-lt"/>
                          <a:ea typeface="+mn-ea"/>
                          <a:cs typeface="+mn-cs"/>
                        </a:rPr>
                        <a:t>resultat</a:t>
                      </a:r>
                      <a:r>
                        <a:rPr lang="fr-FR" sz="2400" b="1" kern="1200" baseline="0" dirty="0">
                          <a:solidFill>
                            <a:schemeClr val="dk1"/>
                          </a:solidFill>
                          <a:latin typeface="+mn-lt"/>
                          <a:ea typeface="+mn-ea"/>
                          <a:cs typeface="+mn-cs"/>
                        </a:rPr>
                        <a:t>) </a:t>
                      </a:r>
                    </a:p>
                    <a:p>
                      <a:r>
                        <a:rPr lang="fr-FR" sz="2400" kern="1200" baseline="0" dirty="0">
                          <a:solidFill>
                            <a:schemeClr val="dk1"/>
                          </a:solidFill>
                          <a:latin typeface="+mn-lt"/>
                          <a:ea typeface="+mn-ea"/>
                          <a:cs typeface="+mn-cs"/>
                        </a:rPr>
                        <a:t>Début </a:t>
                      </a:r>
                    </a:p>
                    <a:p>
                      <a:r>
                        <a:rPr lang="fr-FR" sz="2400" kern="1200" baseline="0" dirty="0">
                          <a:solidFill>
                            <a:schemeClr val="dk1"/>
                          </a:solidFill>
                          <a:latin typeface="+mn-lt"/>
                          <a:ea typeface="+mn-ea"/>
                          <a:cs typeface="+mn-cs"/>
                        </a:rPr>
                        <a:t>Si (</a:t>
                      </a:r>
                      <a:r>
                        <a:rPr lang="fr-FR" sz="2400" b="1" kern="1200" baseline="0" dirty="0">
                          <a:solidFill>
                            <a:schemeClr val="dk1"/>
                          </a:solidFill>
                          <a:latin typeface="+mn-lt"/>
                          <a:ea typeface="+mn-ea"/>
                          <a:cs typeface="+mn-cs"/>
                        </a:rPr>
                        <a:t>n&gt;1) alors </a:t>
                      </a:r>
                    </a:p>
                    <a:p>
                      <a:r>
                        <a:rPr lang="pt-BR" sz="2400" kern="1200" baseline="0" dirty="0">
                          <a:solidFill>
                            <a:schemeClr val="dk1"/>
                          </a:solidFill>
                          <a:latin typeface="+mn-lt"/>
                          <a:ea typeface="+mn-ea"/>
                          <a:cs typeface="+mn-cs"/>
                        </a:rPr>
                        <a:t>Retourner (</a:t>
                      </a:r>
                      <a:r>
                        <a:rPr lang="pt-BR" sz="2400" b="1" kern="1200" baseline="0" dirty="0">
                          <a:solidFill>
                            <a:schemeClr val="dk1"/>
                          </a:solidFill>
                          <a:latin typeface="+mn-lt"/>
                          <a:ea typeface="+mn-ea"/>
                          <a:cs typeface="+mn-cs"/>
                        </a:rPr>
                        <a:t>Facto-R (n-1, n * resultat)) </a:t>
                      </a:r>
                    </a:p>
                    <a:p>
                      <a:r>
                        <a:rPr lang="fr-FR" sz="2400" kern="1200" baseline="0" dirty="0">
                          <a:solidFill>
                            <a:schemeClr val="dk1"/>
                          </a:solidFill>
                          <a:latin typeface="+mn-lt"/>
                          <a:ea typeface="+mn-ea"/>
                          <a:cs typeface="+mn-cs"/>
                        </a:rPr>
                        <a:t>Sinon </a:t>
                      </a:r>
                    </a:p>
                    <a:p>
                      <a:r>
                        <a:rPr lang="fr-FR" sz="2400" b="1" kern="1200" baseline="0" dirty="0">
                          <a:solidFill>
                            <a:schemeClr val="dk1"/>
                          </a:solidFill>
                          <a:latin typeface="+mn-lt"/>
                          <a:ea typeface="+mn-ea"/>
                          <a:cs typeface="+mn-cs"/>
                        </a:rPr>
                        <a:t>Retourner (</a:t>
                      </a:r>
                      <a:r>
                        <a:rPr lang="fr-FR" sz="2400" b="1" kern="1200" baseline="0" dirty="0" err="1">
                          <a:solidFill>
                            <a:schemeClr val="dk1"/>
                          </a:solidFill>
                          <a:latin typeface="+mn-lt"/>
                          <a:ea typeface="+mn-ea"/>
                          <a:cs typeface="+mn-cs"/>
                        </a:rPr>
                        <a:t>resultat</a:t>
                      </a:r>
                      <a:r>
                        <a:rPr lang="fr-FR" sz="2400" b="1" kern="1200" baseline="0" dirty="0">
                          <a:solidFill>
                            <a:schemeClr val="dk1"/>
                          </a:solidFill>
                          <a:latin typeface="+mn-lt"/>
                          <a:ea typeface="+mn-ea"/>
                          <a:cs typeface="+mn-cs"/>
                        </a:rPr>
                        <a:t>) </a:t>
                      </a:r>
                    </a:p>
                    <a:p>
                      <a:r>
                        <a:rPr lang="fr-FR" sz="2400" kern="1200" baseline="0" dirty="0" err="1">
                          <a:solidFill>
                            <a:schemeClr val="dk1"/>
                          </a:solidFill>
                          <a:latin typeface="+mn-lt"/>
                          <a:ea typeface="+mn-ea"/>
                          <a:cs typeface="+mn-cs"/>
                        </a:rPr>
                        <a:t>Fsi</a:t>
                      </a:r>
                      <a:r>
                        <a:rPr lang="fr-FR" sz="2400" kern="1200" baseline="0" dirty="0">
                          <a:solidFill>
                            <a:schemeClr val="dk1"/>
                          </a:solidFill>
                          <a:latin typeface="+mn-lt"/>
                          <a:ea typeface="+mn-ea"/>
                          <a:cs typeface="+mn-cs"/>
                        </a:rPr>
                        <a:t> </a:t>
                      </a:r>
                    </a:p>
                    <a:p>
                      <a:r>
                        <a:rPr lang="fr-FR" sz="2400" kern="1200" baseline="0" dirty="0">
                          <a:solidFill>
                            <a:schemeClr val="dk1"/>
                          </a:solidFill>
                          <a:latin typeface="+mn-lt"/>
                          <a:ea typeface="+mn-ea"/>
                          <a:cs typeface="+mn-cs"/>
                        </a:rPr>
                        <a:t>Fin </a:t>
                      </a:r>
                      <a:endParaRPr lang="fr-FR" sz="2400" dirty="0"/>
                    </a:p>
                  </a:txBody>
                  <a:tcPr/>
                </a:tc>
                <a:tc>
                  <a:txBody>
                    <a:bodyPr/>
                    <a:lstStyle/>
                    <a:p>
                      <a:r>
                        <a:rPr lang="fr-FR" sz="2400" kern="1200" baseline="0" dirty="0">
                          <a:solidFill>
                            <a:schemeClr val="dk1"/>
                          </a:solidFill>
                          <a:latin typeface="+mn-lt"/>
                          <a:ea typeface="+mn-ea"/>
                          <a:cs typeface="+mn-cs"/>
                        </a:rPr>
                        <a:t>Fonction </a:t>
                      </a:r>
                      <a:r>
                        <a:rPr lang="fr-FR" sz="2400" b="1" kern="1200" baseline="0" dirty="0">
                          <a:solidFill>
                            <a:schemeClr val="dk1"/>
                          </a:solidFill>
                          <a:latin typeface="+mn-lt"/>
                          <a:ea typeface="+mn-ea"/>
                          <a:cs typeface="+mn-cs"/>
                        </a:rPr>
                        <a:t>Facto-I (n, </a:t>
                      </a:r>
                      <a:r>
                        <a:rPr lang="fr-FR" sz="2400" b="1" kern="1200" baseline="0" dirty="0" err="1">
                          <a:solidFill>
                            <a:schemeClr val="dk1"/>
                          </a:solidFill>
                          <a:latin typeface="+mn-lt"/>
                          <a:ea typeface="+mn-ea"/>
                          <a:cs typeface="+mn-cs"/>
                        </a:rPr>
                        <a:t>resultat</a:t>
                      </a:r>
                      <a:r>
                        <a:rPr lang="fr-FR" sz="2400" b="1" kern="1200" baseline="0" dirty="0">
                          <a:solidFill>
                            <a:schemeClr val="dk1"/>
                          </a:solidFill>
                          <a:latin typeface="+mn-lt"/>
                          <a:ea typeface="+mn-ea"/>
                          <a:cs typeface="+mn-cs"/>
                        </a:rPr>
                        <a:t>) </a:t>
                      </a:r>
                    </a:p>
                    <a:p>
                      <a:r>
                        <a:rPr lang="fr-FR" sz="2400" b="0" kern="1200" baseline="0" dirty="0">
                          <a:solidFill>
                            <a:schemeClr val="dk1"/>
                          </a:solidFill>
                          <a:latin typeface="+mn-lt"/>
                          <a:ea typeface="+mn-ea"/>
                          <a:cs typeface="+mn-cs"/>
                        </a:rPr>
                        <a:t>Début </a:t>
                      </a:r>
                    </a:p>
                    <a:p>
                      <a:r>
                        <a:rPr lang="fr-FR" sz="2400" b="1" kern="1200" baseline="0" dirty="0" err="1">
                          <a:solidFill>
                            <a:schemeClr val="dk1"/>
                          </a:solidFill>
                          <a:latin typeface="+mn-lt"/>
                          <a:ea typeface="+mn-ea"/>
                          <a:cs typeface="+mn-cs"/>
                        </a:rPr>
                        <a:t>resultat</a:t>
                      </a:r>
                      <a:r>
                        <a:rPr lang="fr-FR" sz="2400" b="1" kern="1200" baseline="0" dirty="0">
                          <a:solidFill>
                            <a:schemeClr val="dk1"/>
                          </a:solidFill>
                          <a:latin typeface="+mn-lt"/>
                          <a:ea typeface="+mn-ea"/>
                          <a:cs typeface="+mn-cs"/>
                          <a:sym typeface="Wingdings" pitchFamily="2" charset="2"/>
                        </a:rPr>
                        <a:t></a:t>
                      </a:r>
                      <a:r>
                        <a:rPr lang="fr-FR" sz="2400" b="1" kern="1200" baseline="0" dirty="0">
                          <a:solidFill>
                            <a:schemeClr val="dk1"/>
                          </a:solidFill>
                          <a:latin typeface="+mn-lt"/>
                          <a:ea typeface="+mn-ea"/>
                          <a:cs typeface="+mn-cs"/>
                        </a:rPr>
                        <a:t>1 </a:t>
                      </a:r>
                    </a:p>
                    <a:p>
                      <a:r>
                        <a:rPr lang="fr-FR" sz="2400" kern="1200" baseline="0" dirty="0">
                          <a:solidFill>
                            <a:schemeClr val="dk1"/>
                          </a:solidFill>
                          <a:latin typeface="+mn-lt"/>
                          <a:ea typeface="+mn-ea"/>
                          <a:cs typeface="+mn-cs"/>
                        </a:rPr>
                        <a:t>Tant que (</a:t>
                      </a:r>
                      <a:r>
                        <a:rPr lang="fr-FR" sz="2400" b="1" kern="1200" baseline="0" dirty="0">
                          <a:solidFill>
                            <a:schemeClr val="dk1"/>
                          </a:solidFill>
                          <a:latin typeface="+mn-lt"/>
                          <a:ea typeface="+mn-ea"/>
                          <a:cs typeface="+mn-cs"/>
                        </a:rPr>
                        <a:t>n&gt;1) faire </a:t>
                      </a:r>
                    </a:p>
                    <a:p>
                      <a:r>
                        <a:rPr lang="fr-FR" sz="2400" b="1" kern="1200" baseline="0" dirty="0">
                          <a:solidFill>
                            <a:schemeClr val="dk1"/>
                          </a:solidFill>
                          <a:latin typeface="+mn-lt"/>
                          <a:ea typeface="+mn-ea"/>
                          <a:cs typeface="+mn-cs"/>
                        </a:rPr>
                        <a:t>résultat</a:t>
                      </a:r>
                      <a:r>
                        <a:rPr lang="fr-FR" sz="2400" b="1" kern="1200" baseline="0" dirty="0">
                          <a:solidFill>
                            <a:schemeClr val="dk1"/>
                          </a:solidFill>
                          <a:latin typeface="+mn-lt"/>
                          <a:ea typeface="+mn-ea"/>
                          <a:cs typeface="+mn-cs"/>
                          <a:sym typeface="Wingdings" pitchFamily="2" charset="2"/>
                        </a:rPr>
                        <a:t></a:t>
                      </a:r>
                      <a:r>
                        <a:rPr lang="fr-FR" sz="2400" b="1" kern="1200" baseline="0" dirty="0">
                          <a:solidFill>
                            <a:schemeClr val="dk1"/>
                          </a:solidFill>
                          <a:latin typeface="+mn-lt"/>
                          <a:ea typeface="+mn-ea"/>
                          <a:cs typeface="+mn-cs"/>
                        </a:rPr>
                        <a:t> n * </a:t>
                      </a:r>
                      <a:r>
                        <a:rPr lang="fr-FR" sz="2400" b="1" kern="1200" baseline="0" dirty="0" err="1">
                          <a:solidFill>
                            <a:schemeClr val="dk1"/>
                          </a:solidFill>
                          <a:latin typeface="+mn-lt"/>
                          <a:ea typeface="+mn-ea"/>
                          <a:cs typeface="+mn-cs"/>
                        </a:rPr>
                        <a:t>resultat</a:t>
                      </a:r>
                      <a:r>
                        <a:rPr lang="fr-FR" sz="2400" b="1" kern="1200" baseline="0" dirty="0">
                          <a:solidFill>
                            <a:schemeClr val="dk1"/>
                          </a:solidFill>
                          <a:latin typeface="+mn-lt"/>
                          <a:ea typeface="+mn-ea"/>
                          <a:cs typeface="+mn-cs"/>
                        </a:rPr>
                        <a:t> </a:t>
                      </a:r>
                    </a:p>
                    <a:p>
                      <a:r>
                        <a:rPr lang="fr-FR" sz="2400" b="1" kern="1200" baseline="0" dirty="0">
                          <a:solidFill>
                            <a:schemeClr val="dk1"/>
                          </a:solidFill>
                          <a:latin typeface="+mn-lt"/>
                          <a:ea typeface="+mn-ea"/>
                          <a:cs typeface="+mn-cs"/>
                        </a:rPr>
                        <a:t>n </a:t>
                      </a:r>
                      <a:r>
                        <a:rPr lang="fr-FR" sz="2400" b="1" kern="1200" baseline="0" dirty="0">
                          <a:solidFill>
                            <a:schemeClr val="dk1"/>
                          </a:solidFill>
                          <a:latin typeface="+mn-lt"/>
                          <a:ea typeface="+mn-ea"/>
                          <a:cs typeface="+mn-cs"/>
                          <a:sym typeface="Wingdings" pitchFamily="2" charset="2"/>
                        </a:rPr>
                        <a:t></a:t>
                      </a:r>
                      <a:r>
                        <a:rPr lang="fr-FR" sz="2400" b="1" kern="1200" baseline="0" dirty="0">
                          <a:solidFill>
                            <a:schemeClr val="dk1"/>
                          </a:solidFill>
                          <a:latin typeface="+mn-lt"/>
                          <a:ea typeface="+mn-ea"/>
                          <a:cs typeface="+mn-cs"/>
                        </a:rPr>
                        <a:t> n-1 </a:t>
                      </a:r>
                    </a:p>
                    <a:p>
                      <a:r>
                        <a:rPr lang="fr-FR" sz="2400" kern="1200" baseline="0" dirty="0">
                          <a:solidFill>
                            <a:schemeClr val="dk1"/>
                          </a:solidFill>
                          <a:latin typeface="+mn-lt"/>
                          <a:ea typeface="+mn-ea"/>
                          <a:cs typeface="+mn-cs"/>
                        </a:rPr>
                        <a:t>FTQ </a:t>
                      </a:r>
                    </a:p>
                    <a:p>
                      <a:r>
                        <a:rPr lang="fr-FR" sz="2400" b="1" kern="1200" baseline="0" dirty="0">
                          <a:solidFill>
                            <a:schemeClr val="dk1"/>
                          </a:solidFill>
                          <a:latin typeface="+mn-lt"/>
                          <a:ea typeface="+mn-ea"/>
                          <a:cs typeface="+mn-cs"/>
                        </a:rPr>
                        <a:t>Retourner (</a:t>
                      </a:r>
                      <a:r>
                        <a:rPr lang="fr-FR" sz="2400" b="1" kern="1200" baseline="0" dirty="0" err="1">
                          <a:solidFill>
                            <a:schemeClr val="dk1"/>
                          </a:solidFill>
                          <a:latin typeface="+mn-lt"/>
                          <a:ea typeface="+mn-ea"/>
                          <a:cs typeface="+mn-cs"/>
                        </a:rPr>
                        <a:t>resultat</a:t>
                      </a:r>
                      <a:r>
                        <a:rPr lang="fr-FR" sz="2400" b="1" kern="1200" baseline="0" dirty="0">
                          <a:solidFill>
                            <a:schemeClr val="dk1"/>
                          </a:solidFill>
                          <a:latin typeface="+mn-lt"/>
                          <a:ea typeface="+mn-ea"/>
                          <a:cs typeface="+mn-cs"/>
                        </a:rPr>
                        <a:t>) </a:t>
                      </a:r>
                    </a:p>
                    <a:p>
                      <a:r>
                        <a:rPr lang="fr-FR" sz="2400" kern="1200" baseline="0" dirty="0">
                          <a:solidFill>
                            <a:schemeClr val="dk1"/>
                          </a:solidFill>
                          <a:latin typeface="+mn-lt"/>
                          <a:ea typeface="+mn-ea"/>
                          <a:cs typeface="+mn-cs"/>
                        </a:rPr>
                        <a:t>Fin </a:t>
                      </a:r>
                      <a:endParaRPr lang="fr-FR" sz="2400" dirty="0"/>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pPr lvl="1" algn="ctr" rtl="0">
              <a:spcBef>
                <a:spcPct val="0"/>
              </a:spcBef>
            </a:pPr>
            <a:r>
              <a:rPr lang="fr-FR" sz="2800" b="1" dirty="0"/>
              <a:t>Élimination de la récursivité terminale multiple </a:t>
            </a:r>
            <a:br>
              <a:rPr lang="fr-FR" sz="2800" b="1" dirty="0"/>
            </a:br>
            <a:r>
              <a:rPr lang="fr-FR" sz="2800" b="1" dirty="0"/>
              <a:t>Exemple : PGCD</a:t>
            </a:r>
            <a:r>
              <a:rPr lang="fr-FR" sz="2800" dirty="0"/>
              <a:t> </a:t>
            </a:r>
            <a:endParaRPr lang="fr-FR" sz="3200" dirty="0"/>
          </a:p>
        </p:txBody>
      </p:sp>
      <p:graphicFrame>
        <p:nvGraphicFramePr>
          <p:cNvPr id="4" name="Espace réservé du contenu 3"/>
          <p:cNvGraphicFramePr>
            <a:graphicFrameLocks noGrp="1"/>
          </p:cNvGraphicFramePr>
          <p:nvPr>
            <p:ph idx="1"/>
          </p:nvPr>
        </p:nvGraphicFramePr>
        <p:xfrm>
          <a:off x="457200" y="1600200"/>
          <a:ext cx="8229600" cy="493776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8123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2400" b="1" kern="1200" baseline="0" dirty="0">
                          <a:solidFill>
                            <a:schemeClr val="lt1"/>
                          </a:solidFill>
                          <a:latin typeface="+mn-lt"/>
                          <a:ea typeface="+mn-ea"/>
                          <a:cs typeface="+mn-cs"/>
                        </a:rPr>
                        <a:t>Algorithme Récursif </a:t>
                      </a:r>
                      <a:endParaRPr lang="fr-FR" sz="2400" dirty="0"/>
                    </a:p>
                    <a:p>
                      <a:endParaRPr lang="fr-FR" sz="24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2400" b="1" kern="1200" baseline="0" dirty="0">
                          <a:solidFill>
                            <a:schemeClr val="lt1"/>
                          </a:solidFill>
                          <a:latin typeface="+mn-lt"/>
                          <a:ea typeface="+mn-ea"/>
                          <a:cs typeface="+mn-cs"/>
                        </a:rPr>
                        <a:t>Algorithme Itératif </a:t>
                      </a:r>
                      <a:endParaRPr lang="fr-FR" sz="2400" b="0" dirty="0"/>
                    </a:p>
                    <a:p>
                      <a:endParaRPr lang="fr-FR" sz="2400" dirty="0"/>
                    </a:p>
                  </a:txBody>
                  <a:tcPr/>
                </a:tc>
                <a:extLst>
                  <a:ext uri="{0D108BD9-81ED-4DB2-BD59-A6C34878D82A}">
                    <a16:rowId xmlns:a16="http://schemas.microsoft.com/office/drawing/2014/main" val="10000"/>
                  </a:ext>
                </a:extLst>
              </a:tr>
              <a:tr h="3945458">
                <a:tc>
                  <a:txBody>
                    <a:bodyPr/>
                    <a:lstStyle/>
                    <a:p>
                      <a:endParaRPr lang="fr-FR" sz="2400" kern="1200" baseline="0" dirty="0">
                        <a:solidFill>
                          <a:schemeClr val="dk1"/>
                        </a:solidFill>
                        <a:latin typeface="+mn-lt"/>
                        <a:ea typeface="+mn-ea"/>
                        <a:cs typeface="+mn-cs"/>
                      </a:endParaRPr>
                    </a:p>
                    <a:p>
                      <a:r>
                        <a:rPr lang="fr-FR" sz="2400" kern="1200" baseline="0" dirty="0">
                          <a:solidFill>
                            <a:schemeClr val="dk1"/>
                          </a:solidFill>
                          <a:latin typeface="+mn-lt"/>
                          <a:ea typeface="+mn-ea"/>
                          <a:cs typeface="+mn-cs"/>
                        </a:rPr>
                        <a:t>Fonction </a:t>
                      </a:r>
                      <a:r>
                        <a:rPr lang="fr-FR" sz="2400" b="1" kern="1200" baseline="0" dirty="0">
                          <a:solidFill>
                            <a:schemeClr val="dk1"/>
                          </a:solidFill>
                          <a:latin typeface="+mn-lt"/>
                          <a:ea typeface="+mn-ea"/>
                          <a:cs typeface="+mn-cs"/>
                        </a:rPr>
                        <a:t>PGCD-R (a, b) </a:t>
                      </a:r>
                    </a:p>
                    <a:p>
                      <a:r>
                        <a:rPr lang="fr-FR" sz="2400" kern="1200" baseline="0" dirty="0">
                          <a:solidFill>
                            <a:schemeClr val="dk1"/>
                          </a:solidFill>
                          <a:latin typeface="+mn-lt"/>
                          <a:ea typeface="+mn-ea"/>
                          <a:cs typeface="+mn-cs"/>
                        </a:rPr>
                        <a:t>Début </a:t>
                      </a:r>
                    </a:p>
                    <a:p>
                      <a:r>
                        <a:rPr lang="fr-FR" sz="2400" kern="1200" baseline="0" dirty="0">
                          <a:solidFill>
                            <a:schemeClr val="dk1"/>
                          </a:solidFill>
                          <a:latin typeface="+mn-lt"/>
                          <a:ea typeface="+mn-ea"/>
                          <a:cs typeface="+mn-cs"/>
                        </a:rPr>
                        <a:t>Si (a = b) alors </a:t>
                      </a:r>
                      <a:r>
                        <a:rPr lang="fr-FR" sz="2400" b="1" kern="1200" baseline="0" dirty="0">
                          <a:solidFill>
                            <a:schemeClr val="dk1"/>
                          </a:solidFill>
                          <a:latin typeface="+mn-lt"/>
                          <a:ea typeface="+mn-ea"/>
                          <a:cs typeface="+mn-cs"/>
                        </a:rPr>
                        <a:t>Retourner (a) </a:t>
                      </a:r>
                    </a:p>
                    <a:p>
                      <a:r>
                        <a:rPr lang="fr-FR" sz="2400" kern="1200" baseline="0" dirty="0">
                          <a:solidFill>
                            <a:schemeClr val="dk1"/>
                          </a:solidFill>
                          <a:latin typeface="+mn-lt"/>
                          <a:ea typeface="+mn-ea"/>
                          <a:cs typeface="+mn-cs"/>
                        </a:rPr>
                        <a:t>Sinon </a:t>
                      </a:r>
                      <a:endParaRPr lang="fr-FR" sz="2400" b="1" kern="1200" baseline="0" dirty="0">
                        <a:solidFill>
                          <a:schemeClr val="dk1"/>
                        </a:solidFill>
                        <a:latin typeface="+mn-lt"/>
                        <a:ea typeface="+mn-ea"/>
                        <a:cs typeface="+mn-cs"/>
                      </a:endParaRPr>
                    </a:p>
                    <a:p>
                      <a:r>
                        <a:rPr lang="fr-FR" sz="2400" kern="1200" baseline="0" dirty="0">
                          <a:solidFill>
                            <a:schemeClr val="dk1"/>
                          </a:solidFill>
                          <a:latin typeface="+mn-lt"/>
                          <a:ea typeface="+mn-ea"/>
                          <a:cs typeface="+mn-cs"/>
                        </a:rPr>
                        <a:t>Si (</a:t>
                      </a:r>
                      <a:r>
                        <a:rPr lang="fr-FR" sz="2400" b="1" kern="1200" baseline="0" dirty="0">
                          <a:solidFill>
                            <a:schemeClr val="dk1"/>
                          </a:solidFill>
                          <a:latin typeface="+mn-lt"/>
                          <a:ea typeface="+mn-ea"/>
                          <a:cs typeface="+mn-cs"/>
                        </a:rPr>
                        <a:t>a&gt;b) alors </a:t>
                      </a:r>
                    </a:p>
                    <a:p>
                      <a:r>
                        <a:rPr lang="fr-FR" sz="2400" kern="1200" baseline="0" dirty="0">
                          <a:solidFill>
                            <a:schemeClr val="dk1"/>
                          </a:solidFill>
                          <a:latin typeface="+mn-lt"/>
                          <a:ea typeface="+mn-ea"/>
                          <a:cs typeface="+mn-cs"/>
                        </a:rPr>
                        <a:t>Retourner (</a:t>
                      </a:r>
                      <a:r>
                        <a:rPr lang="fr-FR" sz="2400" b="1" kern="1200" baseline="0" dirty="0">
                          <a:solidFill>
                            <a:schemeClr val="dk1"/>
                          </a:solidFill>
                          <a:latin typeface="+mn-lt"/>
                          <a:ea typeface="+mn-ea"/>
                          <a:cs typeface="+mn-cs"/>
                        </a:rPr>
                        <a:t>PGCD-R (a-b, b)) </a:t>
                      </a:r>
                    </a:p>
                    <a:p>
                      <a:r>
                        <a:rPr lang="fr-FR" sz="2400" kern="1200" baseline="0" dirty="0">
                          <a:solidFill>
                            <a:schemeClr val="dk1"/>
                          </a:solidFill>
                          <a:latin typeface="+mn-lt"/>
                          <a:ea typeface="+mn-ea"/>
                          <a:cs typeface="+mn-cs"/>
                        </a:rPr>
                        <a:t>Sinon </a:t>
                      </a:r>
                    </a:p>
                    <a:p>
                      <a:r>
                        <a:rPr lang="fr-FR" sz="2400" kern="1200" baseline="0" dirty="0">
                          <a:solidFill>
                            <a:schemeClr val="dk1"/>
                          </a:solidFill>
                          <a:latin typeface="+mn-lt"/>
                          <a:ea typeface="+mn-ea"/>
                          <a:cs typeface="+mn-cs"/>
                        </a:rPr>
                        <a:t>Retourner (</a:t>
                      </a:r>
                      <a:r>
                        <a:rPr lang="fr-FR" sz="2400" b="1" kern="1200" baseline="0" dirty="0">
                          <a:solidFill>
                            <a:schemeClr val="dk1"/>
                          </a:solidFill>
                          <a:latin typeface="+mn-lt"/>
                          <a:ea typeface="+mn-ea"/>
                          <a:cs typeface="+mn-cs"/>
                        </a:rPr>
                        <a:t>PGCD-R (a, b-a)) </a:t>
                      </a:r>
                    </a:p>
                    <a:p>
                      <a:r>
                        <a:rPr lang="fr-FR" sz="2400" kern="1200" baseline="0" dirty="0" err="1">
                          <a:solidFill>
                            <a:schemeClr val="dk1"/>
                          </a:solidFill>
                          <a:latin typeface="+mn-lt"/>
                          <a:ea typeface="+mn-ea"/>
                          <a:cs typeface="+mn-cs"/>
                        </a:rPr>
                        <a:t>Fsi</a:t>
                      </a:r>
                      <a:r>
                        <a:rPr lang="fr-FR" sz="2400" kern="1200" baseline="0" dirty="0">
                          <a:solidFill>
                            <a:schemeClr val="dk1"/>
                          </a:solidFill>
                          <a:latin typeface="+mn-lt"/>
                          <a:ea typeface="+mn-ea"/>
                          <a:cs typeface="+mn-cs"/>
                        </a:rPr>
                        <a:t> </a:t>
                      </a:r>
                    </a:p>
                    <a:p>
                      <a:r>
                        <a:rPr lang="fr-FR" sz="2400" kern="1200" baseline="0" dirty="0">
                          <a:solidFill>
                            <a:schemeClr val="dk1"/>
                          </a:solidFill>
                          <a:latin typeface="+mn-lt"/>
                          <a:ea typeface="+mn-ea"/>
                          <a:cs typeface="+mn-cs"/>
                        </a:rPr>
                        <a:t>Fin </a:t>
                      </a:r>
                      <a:endParaRPr lang="fr-FR" sz="2400" dirty="0"/>
                    </a:p>
                  </a:txBody>
                  <a:tcPr/>
                </a:tc>
                <a:tc>
                  <a:txBody>
                    <a:bodyPr/>
                    <a:lstStyle/>
                    <a:p>
                      <a:endParaRPr lang="fr-FR" sz="2400" kern="1200" baseline="0" dirty="0">
                        <a:solidFill>
                          <a:schemeClr val="dk1"/>
                        </a:solidFill>
                        <a:latin typeface="+mn-lt"/>
                        <a:ea typeface="+mn-ea"/>
                        <a:cs typeface="+mn-cs"/>
                      </a:endParaRPr>
                    </a:p>
                    <a:p>
                      <a:r>
                        <a:rPr lang="fr-FR" sz="2400" kern="1200" baseline="0" dirty="0">
                          <a:solidFill>
                            <a:schemeClr val="dk1"/>
                          </a:solidFill>
                          <a:latin typeface="+mn-lt"/>
                          <a:ea typeface="+mn-ea"/>
                          <a:cs typeface="+mn-cs"/>
                        </a:rPr>
                        <a:t>Fonction </a:t>
                      </a:r>
                      <a:r>
                        <a:rPr lang="fr-FR" sz="2400" b="1" kern="1200" baseline="0" dirty="0">
                          <a:solidFill>
                            <a:schemeClr val="dk1"/>
                          </a:solidFill>
                          <a:latin typeface="+mn-lt"/>
                          <a:ea typeface="+mn-ea"/>
                          <a:cs typeface="+mn-cs"/>
                        </a:rPr>
                        <a:t>PGCD-R (a, b) </a:t>
                      </a:r>
                    </a:p>
                    <a:p>
                      <a:r>
                        <a:rPr lang="fr-FR" sz="2400" kern="1200" baseline="0" dirty="0">
                          <a:solidFill>
                            <a:schemeClr val="dk1"/>
                          </a:solidFill>
                          <a:latin typeface="+mn-lt"/>
                          <a:ea typeface="+mn-ea"/>
                          <a:cs typeface="+mn-cs"/>
                        </a:rPr>
                        <a:t>Début </a:t>
                      </a:r>
                    </a:p>
                    <a:p>
                      <a:r>
                        <a:rPr lang="fr-FR" sz="2400" kern="1200" baseline="0" dirty="0">
                          <a:solidFill>
                            <a:schemeClr val="dk1"/>
                          </a:solidFill>
                          <a:latin typeface="+mn-lt"/>
                          <a:ea typeface="+mn-ea"/>
                          <a:cs typeface="+mn-cs"/>
                        </a:rPr>
                        <a:t>Tant que (</a:t>
                      </a:r>
                      <a:r>
                        <a:rPr lang="fr-FR" sz="2400" b="1" kern="1200" baseline="0" dirty="0">
                          <a:solidFill>
                            <a:schemeClr val="dk1"/>
                          </a:solidFill>
                          <a:latin typeface="+mn-lt"/>
                          <a:ea typeface="+mn-ea"/>
                          <a:cs typeface="+mn-cs"/>
                        </a:rPr>
                        <a:t>a&lt;&gt;b) faire </a:t>
                      </a:r>
                    </a:p>
                    <a:p>
                      <a:r>
                        <a:rPr lang="fr-FR" sz="2400" b="1" kern="1200" baseline="0" dirty="0">
                          <a:solidFill>
                            <a:schemeClr val="dk1"/>
                          </a:solidFill>
                          <a:latin typeface="+mn-lt"/>
                          <a:ea typeface="+mn-ea"/>
                          <a:cs typeface="+mn-cs"/>
                        </a:rPr>
                        <a:t>Si (a&gt;b) alors a</a:t>
                      </a:r>
                      <a:r>
                        <a:rPr lang="fr-FR" sz="2400" b="1" kern="1200" baseline="0" dirty="0">
                          <a:solidFill>
                            <a:schemeClr val="dk1"/>
                          </a:solidFill>
                          <a:latin typeface="+mn-lt"/>
                          <a:ea typeface="+mn-ea"/>
                          <a:cs typeface="+mn-cs"/>
                          <a:sym typeface="Wingdings" pitchFamily="2" charset="2"/>
                        </a:rPr>
                        <a:t></a:t>
                      </a:r>
                      <a:r>
                        <a:rPr lang="fr-FR" sz="2400" b="1" kern="1200" baseline="0" dirty="0">
                          <a:solidFill>
                            <a:schemeClr val="dk1"/>
                          </a:solidFill>
                          <a:latin typeface="+mn-lt"/>
                          <a:ea typeface="+mn-ea"/>
                          <a:cs typeface="+mn-cs"/>
                        </a:rPr>
                        <a:t>a-b </a:t>
                      </a:r>
                    </a:p>
                    <a:p>
                      <a:r>
                        <a:rPr lang="fr-FR" sz="2400" b="1" kern="1200" baseline="0" dirty="0">
                          <a:solidFill>
                            <a:schemeClr val="dk1"/>
                          </a:solidFill>
                          <a:latin typeface="+mn-lt"/>
                          <a:ea typeface="+mn-ea"/>
                          <a:cs typeface="+mn-cs"/>
                        </a:rPr>
                        <a:t>Sinon b</a:t>
                      </a:r>
                      <a:r>
                        <a:rPr lang="fr-FR" sz="2400" b="1" kern="1200" baseline="0" dirty="0">
                          <a:solidFill>
                            <a:schemeClr val="dk1"/>
                          </a:solidFill>
                          <a:latin typeface="+mn-lt"/>
                          <a:ea typeface="+mn-ea"/>
                          <a:cs typeface="+mn-cs"/>
                          <a:sym typeface="Wingdings" pitchFamily="2" charset="2"/>
                        </a:rPr>
                        <a:t></a:t>
                      </a:r>
                      <a:r>
                        <a:rPr lang="fr-FR" sz="2400" b="1" kern="1200" baseline="0" dirty="0">
                          <a:solidFill>
                            <a:schemeClr val="dk1"/>
                          </a:solidFill>
                          <a:latin typeface="+mn-lt"/>
                          <a:ea typeface="+mn-ea"/>
                          <a:cs typeface="+mn-cs"/>
                        </a:rPr>
                        <a:t>b-a </a:t>
                      </a:r>
                    </a:p>
                    <a:p>
                      <a:r>
                        <a:rPr lang="fr-FR" sz="2400" kern="1200" baseline="0" dirty="0">
                          <a:solidFill>
                            <a:schemeClr val="dk1"/>
                          </a:solidFill>
                          <a:latin typeface="+mn-lt"/>
                          <a:ea typeface="+mn-ea"/>
                          <a:cs typeface="+mn-cs"/>
                        </a:rPr>
                        <a:t>FTQ </a:t>
                      </a:r>
                    </a:p>
                    <a:p>
                      <a:r>
                        <a:rPr lang="fr-FR" sz="2400" b="1" kern="1200" baseline="0" dirty="0">
                          <a:solidFill>
                            <a:schemeClr val="dk1"/>
                          </a:solidFill>
                          <a:latin typeface="+mn-lt"/>
                          <a:ea typeface="+mn-ea"/>
                          <a:cs typeface="+mn-cs"/>
                        </a:rPr>
                        <a:t>Retourner (a) </a:t>
                      </a:r>
                    </a:p>
                    <a:p>
                      <a:r>
                        <a:rPr lang="fr-FR" sz="2400" kern="1200" baseline="0" dirty="0">
                          <a:solidFill>
                            <a:schemeClr val="dk1"/>
                          </a:solidFill>
                          <a:latin typeface="+mn-lt"/>
                          <a:ea typeface="+mn-ea"/>
                          <a:cs typeface="+mn-cs"/>
                        </a:rPr>
                        <a:t>Fin </a:t>
                      </a:r>
                      <a:endParaRPr lang="fr-FR" sz="2400" dirty="0"/>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pPr lvl="1" algn="ctr" rtl="0">
              <a:spcBef>
                <a:spcPct val="0"/>
              </a:spcBef>
            </a:pPr>
            <a:r>
              <a:rPr lang="fr-FR" sz="2800" b="1" dirty="0"/>
              <a:t>Élimination de la récursivité non terminale simple </a:t>
            </a:r>
          </a:p>
        </p:txBody>
      </p:sp>
      <p:sp>
        <p:nvSpPr>
          <p:cNvPr id="3" name="Espace réservé du contenu 2"/>
          <p:cNvSpPr>
            <a:spLocks noGrp="1"/>
          </p:cNvSpPr>
          <p:nvPr>
            <p:ph idx="1"/>
          </p:nvPr>
        </p:nvSpPr>
        <p:spPr>
          <a:xfrm>
            <a:off x="428596" y="1285860"/>
            <a:ext cx="8429684" cy="5572140"/>
          </a:xfrm>
        </p:spPr>
        <p:txBody>
          <a:bodyPr>
            <a:noAutofit/>
          </a:bodyPr>
          <a:lstStyle/>
          <a:p>
            <a:r>
              <a:rPr lang="fr-FR" sz="2300" dirty="0"/>
              <a:t>Dans un algorithme récursif non terminal, l’appel récursif est suivi d’un traitement </a:t>
            </a:r>
            <a:r>
              <a:rPr lang="fr-FR" sz="2300" dirty="0">
                <a:sym typeface="Wingdings" pitchFamily="2" charset="2"/>
              </a:rPr>
              <a:t></a:t>
            </a:r>
            <a:r>
              <a:rPr lang="fr-FR" sz="2300" dirty="0"/>
              <a:t> Il reste un traitement (</a:t>
            </a:r>
            <a:r>
              <a:rPr lang="fr-FR" sz="2300" b="1" dirty="0"/>
              <a:t>TRAIT2) à reprendre après l’appel récursif </a:t>
            </a:r>
          </a:p>
          <a:p>
            <a:endParaRPr lang="fr-FR" sz="2300" dirty="0"/>
          </a:p>
          <a:p>
            <a:pPr>
              <a:buNone/>
            </a:pPr>
            <a:r>
              <a:rPr lang="fr-FR" sz="2300" dirty="0"/>
              <a:t>Procédure </a:t>
            </a:r>
            <a:r>
              <a:rPr lang="fr-FR" sz="2300" b="1" dirty="0"/>
              <a:t>ALGO (X) </a:t>
            </a:r>
            <a:r>
              <a:rPr lang="fr-FR" sz="2300" dirty="0"/>
              <a:t>// Liste des paramètres </a:t>
            </a:r>
          </a:p>
          <a:p>
            <a:pPr>
              <a:buNone/>
            </a:pPr>
            <a:r>
              <a:rPr lang="fr-FR" sz="2300" b="1" dirty="0"/>
              <a:t>Si (COND) alors </a:t>
            </a:r>
            <a:r>
              <a:rPr lang="fr-FR" sz="2300" dirty="0"/>
              <a:t>// Condition portant sur X </a:t>
            </a:r>
          </a:p>
          <a:p>
            <a:pPr>
              <a:buNone/>
            </a:pPr>
            <a:r>
              <a:rPr lang="fr-FR" sz="2300" b="1" dirty="0"/>
              <a:t> </a:t>
            </a:r>
            <a:r>
              <a:rPr lang="fr-FR" sz="2300" dirty="0"/>
              <a:t>TRAIT1 // Traitement de base de l’algorithme (dépendant de X) </a:t>
            </a:r>
          </a:p>
          <a:p>
            <a:pPr>
              <a:buNone/>
            </a:pPr>
            <a:r>
              <a:rPr lang="fr-FR" sz="2300" dirty="0"/>
              <a:t> ALGO (B(X)) // B(X) représente la transformation des paramètres</a:t>
            </a:r>
          </a:p>
          <a:p>
            <a:pPr>
              <a:buNone/>
            </a:pPr>
            <a:r>
              <a:rPr lang="fr-FR" sz="2300" b="1" dirty="0"/>
              <a:t> TRAIT2 // Traitement à reprendre après le retour (dépendant de X) </a:t>
            </a:r>
          </a:p>
          <a:p>
            <a:pPr>
              <a:buNone/>
            </a:pPr>
            <a:r>
              <a:rPr lang="fr-FR" sz="2300" dirty="0"/>
              <a:t>Sinon </a:t>
            </a:r>
          </a:p>
          <a:p>
            <a:pPr>
              <a:buNone/>
            </a:pPr>
            <a:r>
              <a:rPr lang="fr-FR" sz="2300" dirty="0"/>
              <a:t>  TRAIT3 // Traitement de terminaison (dépendant de X) </a:t>
            </a:r>
          </a:p>
          <a:p>
            <a:pPr>
              <a:buNone/>
            </a:pPr>
            <a:r>
              <a:rPr lang="fr-FR" sz="2300" b="1" dirty="0" err="1"/>
              <a:t>Fsi</a:t>
            </a:r>
            <a:r>
              <a:rPr lang="fr-FR" sz="2300" b="1" dirty="0"/>
              <a:t> </a:t>
            </a:r>
          </a:p>
          <a:p>
            <a:endParaRPr lang="fr-FR" sz="2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b="1" dirty="0"/>
              <a:t>Élimination de la récursivité non terminale simple </a:t>
            </a:r>
            <a:endParaRPr lang="fr-FR" dirty="0"/>
          </a:p>
        </p:txBody>
      </p:sp>
      <p:sp>
        <p:nvSpPr>
          <p:cNvPr id="3" name="Espace réservé du contenu 2"/>
          <p:cNvSpPr>
            <a:spLocks noGrp="1"/>
          </p:cNvSpPr>
          <p:nvPr>
            <p:ph idx="1"/>
          </p:nvPr>
        </p:nvSpPr>
        <p:spPr/>
        <p:txBody>
          <a:bodyPr>
            <a:normAutofit fontScale="92500"/>
          </a:bodyPr>
          <a:lstStyle/>
          <a:p>
            <a:r>
              <a:rPr lang="fr-FR" dirty="0"/>
              <a:t>Il faut donc sauvegarder le contexte de l’appel récursif (</a:t>
            </a:r>
            <a:r>
              <a:rPr lang="fr-FR" i="1" dirty="0"/>
              <a:t>typiquement les paramètres de l’appel engendrant l’appel récursif) </a:t>
            </a:r>
            <a:r>
              <a:rPr lang="fr-FR" b="1" i="1" dirty="0"/>
              <a:t>sur une pile </a:t>
            </a:r>
          </a:p>
          <a:p>
            <a:r>
              <a:rPr lang="fr-FR" dirty="0"/>
              <a:t>Les piles sont des structures de stockage qui fonctionnent sur le principe LIFO « last In First Out: le dernier entré est le premier sorti» </a:t>
            </a:r>
          </a:p>
          <a:p>
            <a:r>
              <a:rPr lang="fr-FR" dirty="0"/>
              <a:t>Le principe est de simuler la pile d’appels des processus pour éliminer la récursivité non terminale. </a:t>
            </a:r>
          </a:p>
          <a:p>
            <a:endParaRPr lang="fr-F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b="1" dirty="0"/>
              <a:t>Élimination de la récursivité non terminale simple </a:t>
            </a:r>
            <a:endParaRPr lang="fr-FR" dirty="0"/>
          </a:p>
        </p:txBody>
      </p:sp>
      <p:sp>
        <p:nvSpPr>
          <p:cNvPr id="3" name="Espace réservé du contenu 2"/>
          <p:cNvSpPr>
            <a:spLocks noGrp="1"/>
          </p:cNvSpPr>
          <p:nvPr>
            <p:ph idx="1"/>
          </p:nvPr>
        </p:nvSpPr>
        <p:spPr>
          <a:xfrm>
            <a:off x="457200" y="1600200"/>
            <a:ext cx="8229600" cy="5472138"/>
          </a:xfrm>
        </p:spPr>
        <p:txBody>
          <a:bodyPr>
            <a:noAutofit/>
          </a:bodyPr>
          <a:lstStyle/>
          <a:p>
            <a:r>
              <a:rPr lang="fr-FR" sz="2200" dirty="0"/>
              <a:t>la pile permet d'enregistrer des informations sur les fonctions en cours d'exécution dans un programme. On parle de pile, car les exécutions successives "s'empilent" les unes sur les autres.</a:t>
            </a:r>
          </a:p>
          <a:p>
            <a:r>
              <a:rPr lang="fr-FR" sz="2200" dirty="0"/>
              <a:t>Il est important de bien comprendre que la fonction située au sommet de la pile est en cours d'exécution. Toutes les fonctions situées "en dessous" sont mises en pause jusqu'au moment où elles se retrouveront au sommet de la pile. Quand une fonction termine son exécution, elle est automatiquement retirée du sommet de la pile (on dit que la fonction est dépilée).</a:t>
            </a:r>
          </a:p>
          <a:p>
            <a:r>
              <a:rPr lang="fr-FR" sz="2200" dirty="0"/>
              <a:t>La pile permet de retenir la prochaine instruction à exécuter au moment où une fonction sera sortie de son ""état de pause" (qu'elle se retrouvera au sommet de la pile d'exécution).</a:t>
            </a:r>
          </a:p>
          <a:p>
            <a:r>
              <a:rPr lang="fr-FR" sz="2200" dirty="0"/>
              <a:t>La pile conserve une "trace" des valeurs des variables lorsqu'une autre fonction est exécutée.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582594"/>
          </a:xfrm>
        </p:spPr>
        <p:txBody>
          <a:bodyPr>
            <a:noAutofit/>
          </a:bodyPr>
          <a:lstStyle/>
          <a:p>
            <a:r>
              <a:rPr lang="fr-FR" sz="2800" b="1" dirty="0"/>
              <a:t>Élimination de la récursivité non terminale simple </a:t>
            </a:r>
            <a:endParaRPr lang="fr-FR" sz="2800" dirty="0"/>
          </a:p>
        </p:txBody>
      </p:sp>
      <p:graphicFrame>
        <p:nvGraphicFramePr>
          <p:cNvPr id="4" name="Espace réservé du contenu 3"/>
          <p:cNvGraphicFramePr>
            <a:graphicFrameLocks noGrp="1"/>
          </p:cNvGraphicFramePr>
          <p:nvPr>
            <p:ph idx="1"/>
          </p:nvPr>
        </p:nvGraphicFramePr>
        <p:xfrm>
          <a:off x="457200" y="857232"/>
          <a:ext cx="8229600" cy="549116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28628">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800" b="1" kern="1200" baseline="0" dirty="0">
                          <a:solidFill>
                            <a:schemeClr val="lt1"/>
                          </a:solidFill>
                          <a:latin typeface="+mn-lt"/>
                          <a:ea typeface="+mn-ea"/>
                          <a:cs typeface="+mn-cs"/>
                        </a:rPr>
                        <a:t>Algorithme Récursif </a:t>
                      </a:r>
                      <a:endParaRPr lang="fr-FR" sz="1800" dirty="0"/>
                    </a:p>
                    <a:p>
                      <a:endParaRPr lang="fr-FR"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800" b="1" kern="1200" baseline="0" dirty="0">
                          <a:solidFill>
                            <a:schemeClr val="lt1"/>
                          </a:solidFill>
                          <a:latin typeface="+mn-lt"/>
                          <a:ea typeface="+mn-ea"/>
                          <a:cs typeface="+mn-cs"/>
                        </a:rPr>
                        <a:t>Algorithme Itératif </a:t>
                      </a:r>
                      <a:endParaRPr lang="fr-FR" sz="1800" b="0" dirty="0"/>
                    </a:p>
                    <a:p>
                      <a:endParaRPr lang="fr-FR" dirty="0"/>
                    </a:p>
                  </a:txBody>
                  <a:tcPr/>
                </a:tc>
                <a:extLst>
                  <a:ext uri="{0D108BD9-81ED-4DB2-BD59-A6C34878D82A}">
                    <a16:rowId xmlns:a16="http://schemas.microsoft.com/office/drawing/2014/main" val="10000"/>
                  </a:ext>
                </a:extLst>
              </a:tr>
              <a:tr h="4851080">
                <a:tc>
                  <a:txBody>
                    <a:bodyPr/>
                    <a:lstStyle/>
                    <a:p>
                      <a:r>
                        <a:rPr lang="fr-FR" sz="2100" kern="1200" baseline="0" dirty="0">
                          <a:solidFill>
                            <a:schemeClr val="dk1"/>
                          </a:solidFill>
                          <a:latin typeface="+mn-lt"/>
                          <a:ea typeface="+mn-ea"/>
                          <a:cs typeface="+mn-cs"/>
                        </a:rPr>
                        <a:t>Procédure </a:t>
                      </a:r>
                      <a:r>
                        <a:rPr lang="fr-FR" sz="2100" b="1" kern="1200" baseline="0" dirty="0">
                          <a:solidFill>
                            <a:schemeClr val="dk1"/>
                          </a:solidFill>
                          <a:latin typeface="+mn-lt"/>
                          <a:ea typeface="+mn-ea"/>
                          <a:cs typeface="+mn-cs"/>
                        </a:rPr>
                        <a:t>ALGO-R (X) </a:t>
                      </a:r>
                    </a:p>
                    <a:p>
                      <a:r>
                        <a:rPr lang="fr-FR" sz="2100" b="0" kern="1200" baseline="0" dirty="0">
                          <a:solidFill>
                            <a:schemeClr val="dk1"/>
                          </a:solidFill>
                          <a:latin typeface="+mn-lt"/>
                          <a:ea typeface="+mn-ea"/>
                          <a:cs typeface="+mn-cs"/>
                        </a:rPr>
                        <a:t>Début </a:t>
                      </a:r>
                    </a:p>
                    <a:p>
                      <a:r>
                        <a:rPr lang="fr-FR" sz="2100" b="0" kern="1200" baseline="0" dirty="0">
                          <a:solidFill>
                            <a:schemeClr val="dk1"/>
                          </a:solidFill>
                          <a:latin typeface="+mn-lt"/>
                          <a:ea typeface="+mn-ea"/>
                          <a:cs typeface="+mn-cs"/>
                        </a:rPr>
                        <a:t>Si (COND) alors </a:t>
                      </a:r>
                    </a:p>
                    <a:p>
                      <a:r>
                        <a:rPr lang="fr-FR" sz="2100" b="0" kern="1200" baseline="0" dirty="0">
                          <a:solidFill>
                            <a:schemeClr val="dk1"/>
                          </a:solidFill>
                          <a:latin typeface="+mn-lt"/>
                          <a:ea typeface="+mn-ea"/>
                          <a:cs typeface="+mn-cs"/>
                        </a:rPr>
                        <a:t> TRAIT1 </a:t>
                      </a:r>
                    </a:p>
                    <a:p>
                      <a:r>
                        <a:rPr lang="fr-FR" sz="2100" b="1" kern="1200" baseline="0" dirty="0">
                          <a:solidFill>
                            <a:schemeClr val="dk1"/>
                          </a:solidFill>
                          <a:latin typeface="+mn-lt"/>
                          <a:ea typeface="+mn-ea"/>
                          <a:cs typeface="+mn-cs"/>
                        </a:rPr>
                        <a:t> ALGO-R (B(X)) </a:t>
                      </a:r>
                    </a:p>
                    <a:p>
                      <a:r>
                        <a:rPr lang="fr-FR" sz="2100" b="0" kern="1200" baseline="0" dirty="0">
                          <a:solidFill>
                            <a:schemeClr val="dk1"/>
                          </a:solidFill>
                          <a:latin typeface="+mn-lt"/>
                          <a:ea typeface="+mn-ea"/>
                          <a:cs typeface="+mn-cs"/>
                        </a:rPr>
                        <a:t> </a:t>
                      </a:r>
                      <a:r>
                        <a:rPr lang="fr-FR" sz="2100" b="1" kern="1200" baseline="0" dirty="0">
                          <a:solidFill>
                            <a:schemeClr val="dk1"/>
                          </a:solidFill>
                          <a:latin typeface="+mn-lt"/>
                          <a:ea typeface="+mn-ea"/>
                          <a:cs typeface="+mn-cs"/>
                        </a:rPr>
                        <a:t>TRAIT2</a:t>
                      </a:r>
                      <a:r>
                        <a:rPr lang="fr-FR" sz="2100" b="0" kern="1200" baseline="0" dirty="0">
                          <a:solidFill>
                            <a:schemeClr val="dk1"/>
                          </a:solidFill>
                          <a:latin typeface="+mn-lt"/>
                          <a:ea typeface="+mn-ea"/>
                          <a:cs typeface="+mn-cs"/>
                        </a:rPr>
                        <a:t> </a:t>
                      </a:r>
                    </a:p>
                    <a:p>
                      <a:r>
                        <a:rPr lang="fr-FR" sz="2100" b="0" kern="1200" baseline="0" dirty="0">
                          <a:solidFill>
                            <a:schemeClr val="dk1"/>
                          </a:solidFill>
                          <a:latin typeface="+mn-lt"/>
                          <a:ea typeface="+mn-ea"/>
                          <a:cs typeface="+mn-cs"/>
                        </a:rPr>
                        <a:t>Sinon </a:t>
                      </a:r>
                    </a:p>
                    <a:p>
                      <a:r>
                        <a:rPr lang="fr-FR" sz="2100" b="0" kern="1200" baseline="0" dirty="0">
                          <a:solidFill>
                            <a:schemeClr val="dk1"/>
                          </a:solidFill>
                          <a:latin typeface="+mn-lt"/>
                          <a:ea typeface="+mn-ea"/>
                          <a:cs typeface="+mn-cs"/>
                        </a:rPr>
                        <a:t> TRAIT3 </a:t>
                      </a:r>
                    </a:p>
                    <a:p>
                      <a:r>
                        <a:rPr lang="fr-FR" sz="2100" b="0" kern="1200" baseline="0" dirty="0" err="1">
                          <a:solidFill>
                            <a:schemeClr val="dk1"/>
                          </a:solidFill>
                          <a:latin typeface="+mn-lt"/>
                          <a:ea typeface="+mn-ea"/>
                          <a:cs typeface="+mn-cs"/>
                        </a:rPr>
                        <a:t>Fsi</a:t>
                      </a:r>
                      <a:r>
                        <a:rPr lang="fr-FR" sz="2100" b="0" kern="1200" baseline="0" dirty="0">
                          <a:solidFill>
                            <a:schemeClr val="dk1"/>
                          </a:solidFill>
                          <a:latin typeface="+mn-lt"/>
                          <a:ea typeface="+mn-ea"/>
                          <a:cs typeface="+mn-cs"/>
                        </a:rPr>
                        <a:t> </a:t>
                      </a:r>
                    </a:p>
                    <a:p>
                      <a:r>
                        <a:rPr lang="fr-FR" sz="2100" b="0" kern="1200" baseline="0" dirty="0">
                          <a:solidFill>
                            <a:schemeClr val="dk1"/>
                          </a:solidFill>
                          <a:latin typeface="+mn-lt"/>
                          <a:ea typeface="+mn-ea"/>
                          <a:cs typeface="+mn-cs"/>
                        </a:rPr>
                        <a:t>Fin </a:t>
                      </a:r>
                      <a:endParaRPr lang="fr-FR" sz="2100" b="0" dirty="0"/>
                    </a:p>
                  </a:txBody>
                  <a:tcPr/>
                </a:tc>
                <a:tc>
                  <a:txBody>
                    <a:bodyPr/>
                    <a:lstStyle/>
                    <a:p>
                      <a:r>
                        <a:rPr lang="fr-FR" sz="2100" kern="1200" baseline="0" dirty="0">
                          <a:solidFill>
                            <a:schemeClr val="dk1"/>
                          </a:solidFill>
                          <a:latin typeface="+mn-lt"/>
                          <a:ea typeface="+mn-ea"/>
                          <a:cs typeface="+mn-cs"/>
                        </a:rPr>
                        <a:t>Procédure </a:t>
                      </a:r>
                      <a:r>
                        <a:rPr lang="fr-FR" sz="2100" b="1" kern="1200" baseline="0" dirty="0">
                          <a:solidFill>
                            <a:schemeClr val="dk1"/>
                          </a:solidFill>
                          <a:latin typeface="+mn-lt"/>
                          <a:ea typeface="+mn-ea"/>
                          <a:cs typeface="+mn-cs"/>
                        </a:rPr>
                        <a:t>ALGO-I (X) </a:t>
                      </a:r>
                    </a:p>
                    <a:p>
                      <a:r>
                        <a:rPr lang="fr-FR" sz="2100" kern="1200" baseline="0" dirty="0">
                          <a:solidFill>
                            <a:schemeClr val="dk1"/>
                          </a:solidFill>
                          <a:latin typeface="+mn-lt"/>
                          <a:ea typeface="+mn-ea"/>
                          <a:cs typeface="+mn-cs"/>
                        </a:rPr>
                        <a:t>Début </a:t>
                      </a:r>
                    </a:p>
                    <a:p>
                      <a:r>
                        <a:rPr lang="fr-FR" sz="2100" b="1" kern="1200" baseline="0" dirty="0" err="1">
                          <a:solidFill>
                            <a:schemeClr val="dk1"/>
                          </a:solidFill>
                          <a:latin typeface="+mn-lt"/>
                          <a:ea typeface="+mn-ea"/>
                          <a:cs typeface="+mn-cs"/>
                        </a:rPr>
                        <a:t>Init</a:t>
                      </a:r>
                      <a:r>
                        <a:rPr lang="fr-FR" sz="2100" b="1" kern="1200" baseline="0" dirty="0">
                          <a:solidFill>
                            <a:schemeClr val="dk1"/>
                          </a:solidFill>
                          <a:latin typeface="+mn-lt"/>
                          <a:ea typeface="+mn-ea"/>
                          <a:cs typeface="+mn-cs"/>
                        </a:rPr>
                        <a:t>(P) //Initialiser la Pile P. </a:t>
                      </a:r>
                    </a:p>
                    <a:p>
                      <a:r>
                        <a:rPr lang="fr-FR" sz="2100" kern="1200" baseline="0" dirty="0">
                          <a:solidFill>
                            <a:schemeClr val="dk1"/>
                          </a:solidFill>
                          <a:latin typeface="+mn-lt"/>
                          <a:ea typeface="+mn-ea"/>
                          <a:cs typeface="+mn-cs"/>
                        </a:rPr>
                        <a:t>Tant que (</a:t>
                      </a:r>
                      <a:r>
                        <a:rPr lang="fr-FR" sz="2100" b="1" kern="1200" baseline="0" dirty="0">
                          <a:solidFill>
                            <a:schemeClr val="dk1"/>
                          </a:solidFill>
                          <a:latin typeface="+mn-lt"/>
                          <a:ea typeface="+mn-ea"/>
                          <a:cs typeface="+mn-cs"/>
                        </a:rPr>
                        <a:t>COND) faire </a:t>
                      </a:r>
                    </a:p>
                    <a:p>
                      <a:r>
                        <a:rPr lang="fr-FR" sz="2100" b="1" kern="1200" baseline="0" dirty="0">
                          <a:solidFill>
                            <a:schemeClr val="dk1"/>
                          </a:solidFill>
                          <a:latin typeface="+mn-lt"/>
                          <a:ea typeface="+mn-ea"/>
                          <a:cs typeface="+mn-cs"/>
                        </a:rPr>
                        <a:t>TRAIT1 </a:t>
                      </a:r>
                    </a:p>
                    <a:p>
                      <a:r>
                        <a:rPr lang="fr-FR" sz="2100" b="1" kern="1200" baseline="0" dirty="0">
                          <a:solidFill>
                            <a:schemeClr val="dk1"/>
                          </a:solidFill>
                          <a:latin typeface="+mn-lt"/>
                          <a:ea typeface="+mn-ea"/>
                          <a:cs typeface="+mn-cs"/>
                        </a:rPr>
                        <a:t>Empiler(P, X) </a:t>
                      </a:r>
                    </a:p>
                    <a:p>
                      <a:r>
                        <a:rPr lang="fr-FR" sz="2100" b="1" kern="1200" baseline="0" dirty="0">
                          <a:solidFill>
                            <a:schemeClr val="dk1"/>
                          </a:solidFill>
                          <a:latin typeface="+mn-lt"/>
                          <a:ea typeface="+mn-ea"/>
                          <a:cs typeface="+mn-cs"/>
                        </a:rPr>
                        <a:t>X</a:t>
                      </a:r>
                      <a:r>
                        <a:rPr lang="fr-FR" sz="2100" b="1" kern="1200" baseline="0" dirty="0">
                          <a:solidFill>
                            <a:schemeClr val="dk1"/>
                          </a:solidFill>
                          <a:latin typeface="+mn-lt"/>
                          <a:ea typeface="+mn-ea"/>
                          <a:cs typeface="+mn-cs"/>
                          <a:sym typeface="Wingdings" pitchFamily="2" charset="2"/>
                        </a:rPr>
                        <a:t></a:t>
                      </a:r>
                      <a:r>
                        <a:rPr lang="fr-FR" sz="2100" b="1" kern="1200" baseline="0" dirty="0">
                          <a:solidFill>
                            <a:schemeClr val="dk1"/>
                          </a:solidFill>
                          <a:latin typeface="+mn-lt"/>
                          <a:ea typeface="+mn-ea"/>
                          <a:cs typeface="+mn-cs"/>
                        </a:rPr>
                        <a:t> B(X) </a:t>
                      </a:r>
                    </a:p>
                    <a:p>
                      <a:r>
                        <a:rPr lang="fr-FR" sz="2100" kern="1200" baseline="0" dirty="0">
                          <a:solidFill>
                            <a:schemeClr val="dk1"/>
                          </a:solidFill>
                          <a:latin typeface="+mn-lt"/>
                          <a:ea typeface="+mn-ea"/>
                          <a:cs typeface="+mn-cs"/>
                        </a:rPr>
                        <a:t>FTQ </a:t>
                      </a:r>
                    </a:p>
                    <a:p>
                      <a:r>
                        <a:rPr lang="fr-FR" sz="2100" b="1" kern="1200" baseline="0" dirty="0">
                          <a:solidFill>
                            <a:schemeClr val="dk1"/>
                          </a:solidFill>
                          <a:latin typeface="+mn-lt"/>
                          <a:ea typeface="+mn-ea"/>
                          <a:cs typeface="+mn-cs"/>
                        </a:rPr>
                        <a:t>TRAIT3 </a:t>
                      </a:r>
                    </a:p>
                    <a:p>
                      <a:r>
                        <a:rPr lang="fr-FR" sz="2100" kern="1200" baseline="0" dirty="0">
                          <a:solidFill>
                            <a:schemeClr val="dk1"/>
                          </a:solidFill>
                          <a:latin typeface="+mn-lt"/>
                          <a:ea typeface="+mn-ea"/>
                          <a:cs typeface="+mn-cs"/>
                        </a:rPr>
                        <a:t>Tant que (</a:t>
                      </a:r>
                      <a:r>
                        <a:rPr lang="fr-FR" sz="2100" b="1" kern="1200" baseline="0" dirty="0">
                          <a:solidFill>
                            <a:schemeClr val="dk1"/>
                          </a:solidFill>
                          <a:latin typeface="+mn-lt"/>
                          <a:ea typeface="+mn-ea"/>
                          <a:cs typeface="+mn-cs"/>
                        </a:rPr>
                        <a:t>Non Vide (P)) Faire </a:t>
                      </a:r>
                    </a:p>
                    <a:p>
                      <a:r>
                        <a:rPr lang="fr-FR" sz="2100" b="1" kern="1200" baseline="0" dirty="0">
                          <a:solidFill>
                            <a:schemeClr val="dk1"/>
                          </a:solidFill>
                          <a:latin typeface="+mn-lt"/>
                          <a:ea typeface="+mn-ea"/>
                          <a:cs typeface="+mn-cs"/>
                        </a:rPr>
                        <a:t>Dépiler(P, U) </a:t>
                      </a:r>
                    </a:p>
                    <a:p>
                      <a:r>
                        <a:rPr lang="fr-FR" sz="2100" b="1" kern="1200" baseline="0" dirty="0">
                          <a:solidFill>
                            <a:schemeClr val="dk1"/>
                          </a:solidFill>
                          <a:latin typeface="+mn-lt"/>
                          <a:ea typeface="+mn-ea"/>
                          <a:cs typeface="+mn-cs"/>
                        </a:rPr>
                        <a:t>TRAIT2 </a:t>
                      </a:r>
                    </a:p>
                    <a:p>
                      <a:r>
                        <a:rPr lang="fr-FR" sz="2100" kern="1200" baseline="0" dirty="0">
                          <a:solidFill>
                            <a:schemeClr val="dk1"/>
                          </a:solidFill>
                          <a:latin typeface="+mn-lt"/>
                          <a:ea typeface="+mn-ea"/>
                          <a:cs typeface="+mn-cs"/>
                        </a:rPr>
                        <a:t>FTQ </a:t>
                      </a:r>
                    </a:p>
                    <a:p>
                      <a:r>
                        <a:rPr lang="fr-FR" sz="2100" kern="1200" baseline="0" dirty="0">
                          <a:solidFill>
                            <a:schemeClr val="dk1"/>
                          </a:solidFill>
                          <a:latin typeface="+mn-lt"/>
                          <a:ea typeface="+mn-ea"/>
                          <a:cs typeface="+mn-cs"/>
                        </a:rPr>
                        <a:t>Fin </a:t>
                      </a:r>
                      <a:endParaRPr lang="fr-FR" sz="2100" dirty="0"/>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sz="2800" b="1" dirty="0"/>
              <a:t>Élimination de la récursivité non terminale simple </a:t>
            </a:r>
            <a:br>
              <a:rPr lang="fr-FR" sz="2800" b="1" dirty="0"/>
            </a:br>
            <a:r>
              <a:rPr lang="fr-FR" sz="2800" b="1" dirty="0"/>
              <a:t>Exemple : factorielle</a:t>
            </a:r>
            <a:endParaRPr lang="fr-FR" sz="2800" dirty="0"/>
          </a:p>
        </p:txBody>
      </p:sp>
      <p:graphicFrame>
        <p:nvGraphicFramePr>
          <p:cNvPr id="4" name="Espace réservé du contenu 3"/>
          <p:cNvGraphicFramePr>
            <a:graphicFrameLocks noGrp="1"/>
          </p:cNvGraphicFramePr>
          <p:nvPr>
            <p:ph idx="1"/>
          </p:nvPr>
        </p:nvGraphicFramePr>
        <p:xfrm>
          <a:off x="457200" y="1600200"/>
          <a:ext cx="8229600" cy="504351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34683">
                <a:tc>
                  <a:txBody>
                    <a:bodyPr/>
                    <a:lstStyle/>
                    <a:p>
                      <a:r>
                        <a:rPr lang="fr-FR" sz="1800" b="1" kern="1200" baseline="0" dirty="0">
                          <a:solidFill>
                            <a:schemeClr val="lt1"/>
                          </a:solidFill>
                          <a:latin typeface="+mn-lt"/>
                          <a:ea typeface="+mn-ea"/>
                          <a:cs typeface="+mn-cs"/>
                        </a:rPr>
                        <a:t>Algorithme Récursif </a:t>
                      </a:r>
                      <a:endParaRPr lang="fr-FR"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800" b="1" kern="1200" baseline="0" dirty="0">
                          <a:solidFill>
                            <a:schemeClr val="lt1"/>
                          </a:solidFill>
                          <a:latin typeface="+mn-lt"/>
                          <a:ea typeface="+mn-ea"/>
                          <a:cs typeface="+mn-cs"/>
                        </a:rPr>
                        <a:t>Algorithme Itératif </a:t>
                      </a:r>
                      <a:endParaRPr lang="fr-FR" sz="1800" b="0" dirty="0"/>
                    </a:p>
                  </a:txBody>
                  <a:tcPr/>
                </a:tc>
                <a:extLst>
                  <a:ext uri="{0D108BD9-81ED-4DB2-BD59-A6C34878D82A}">
                    <a16:rowId xmlns:a16="http://schemas.microsoft.com/office/drawing/2014/main" val="10000"/>
                  </a:ext>
                </a:extLst>
              </a:tr>
              <a:tr h="4608827">
                <a:tc>
                  <a:txBody>
                    <a:bodyPr/>
                    <a:lstStyle/>
                    <a:p>
                      <a:r>
                        <a:rPr lang="fr-FR" sz="2000" kern="1200" baseline="0" dirty="0">
                          <a:solidFill>
                            <a:schemeClr val="dk1"/>
                          </a:solidFill>
                          <a:latin typeface="+mn-lt"/>
                          <a:ea typeface="+mn-ea"/>
                          <a:cs typeface="+mn-cs"/>
                        </a:rPr>
                        <a:t>Fonction </a:t>
                      </a:r>
                      <a:r>
                        <a:rPr lang="fr-FR" sz="2000" b="1" kern="1200" baseline="0" dirty="0" err="1">
                          <a:solidFill>
                            <a:schemeClr val="dk1"/>
                          </a:solidFill>
                          <a:latin typeface="+mn-lt"/>
                          <a:ea typeface="+mn-ea"/>
                          <a:cs typeface="+mn-cs"/>
                        </a:rPr>
                        <a:t>Facto-R</a:t>
                      </a:r>
                      <a:r>
                        <a:rPr lang="fr-FR" sz="2000" b="1" kern="1200" baseline="0" dirty="0">
                          <a:solidFill>
                            <a:schemeClr val="dk1"/>
                          </a:solidFill>
                          <a:latin typeface="+mn-lt"/>
                          <a:ea typeface="+mn-ea"/>
                          <a:cs typeface="+mn-cs"/>
                        </a:rPr>
                        <a:t> (N) </a:t>
                      </a:r>
                    </a:p>
                    <a:p>
                      <a:r>
                        <a:rPr lang="fr-FR" sz="2000" kern="1200" baseline="0" dirty="0">
                          <a:solidFill>
                            <a:schemeClr val="dk1"/>
                          </a:solidFill>
                          <a:latin typeface="+mn-lt"/>
                          <a:ea typeface="+mn-ea"/>
                          <a:cs typeface="+mn-cs"/>
                        </a:rPr>
                        <a:t>Début </a:t>
                      </a:r>
                    </a:p>
                    <a:p>
                      <a:r>
                        <a:rPr lang="fr-FR" sz="2000" kern="1200" baseline="0" dirty="0">
                          <a:solidFill>
                            <a:schemeClr val="dk1"/>
                          </a:solidFill>
                          <a:latin typeface="+mn-lt"/>
                          <a:ea typeface="+mn-ea"/>
                          <a:cs typeface="+mn-cs"/>
                        </a:rPr>
                        <a:t>Si (</a:t>
                      </a:r>
                      <a:r>
                        <a:rPr lang="fr-FR" sz="2000" b="1" kern="1200" baseline="0" dirty="0">
                          <a:solidFill>
                            <a:schemeClr val="dk1"/>
                          </a:solidFill>
                          <a:latin typeface="+mn-lt"/>
                          <a:ea typeface="+mn-ea"/>
                          <a:cs typeface="+mn-cs"/>
                        </a:rPr>
                        <a:t>n&gt;1) alors </a:t>
                      </a:r>
                    </a:p>
                    <a:p>
                      <a:r>
                        <a:rPr lang="fr-FR" sz="2000" b="1" kern="1200" baseline="0" dirty="0">
                          <a:solidFill>
                            <a:schemeClr val="dk1"/>
                          </a:solidFill>
                          <a:latin typeface="+mn-lt"/>
                          <a:ea typeface="+mn-ea"/>
                          <a:cs typeface="+mn-cs"/>
                        </a:rPr>
                        <a:t>Y </a:t>
                      </a:r>
                      <a:r>
                        <a:rPr lang="fr-FR" sz="2000" b="1" kern="1200" baseline="0" dirty="0">
                          <a:solidFill>
                            <a:schemeClr val="dk1"/>
                          </a:solidFill>
                          <a:latin typeface="+mn-lt"/>
                          <a:ea typeface="+mn-ea"/>
                          <a:cs typeface="+mn-cs"/>
                          <a:sym typeface="Wingdings" pitchFamily="2" charset="2"/>
                        </a:rPr>
                        <a:t></a:t>
                      </a:r>
                      <a:r>
                        <a:rPr lang="fr-FR" sz="2000" b="1" kern="1200" baseline="0" dirty="0">
                          <a:solidFill>
                            <a:schemeClr val="dk1"/>
                          </a:solidFill>
                          <a:latin typeface="+mn-lt"/>
                          <a:ea typeface="+mn-ea"/>
                          <a:cs typeface="+mn-cs"/>
                        </a:rPr>
                        <a:t> N * </a:t>
                      </a:r>
                      <a:r>
                        <a:rPr lang="fr-FR" sz="2000" b="1" kern="1200" baseline="0" dirty="0" err="1">
                          <a:solidFill>
                            <a:schemeClr val="dk1"/>
                          </a:solidFill>
                          <a:latin typeface="+mn-lt"/>
                          <a:ea typeface="+mn-ea"/>
                          <a:cs typeface="+mn-cs"/>
                        </a:rPr>
                        <a:t>Facto-R</a:t>
                      </a:r>
                      <a:r>
                        <a:rPr lang="fr-FR" sz="2000" b="1" kern="1200" baseline="0" dirty="0">
                          <a:solidFill>
                            <a:schemeClr val="dk1"/>
                          </a:solidFill>
                          <a:latin typeface="+mn-lt"/>
                          <a:ea typeface="+mn-ea"/>
                          <a:cs typeface="+mn-cs"/>
                        </a:rPr>
                        <a:t> (N-1) </a:t>
                      </a:r>
                    </a:p>
                    <a:p>
                      <a:r>
                        <a:rPr lang="fr-FR" sz="2000" kern="1200" baseline="0" dirty="0">
                          <a:solidFill>
                            <a:schemeClr val="dk1"/>
                          </a:solidFill>
                          <a:latin typeface="+mn-lt"/>
                          <a:ea typeface="+mn-ea"/>
                          <a:cs typeface="+mn-cs"/>
                        </a:rPr>
                        <a:t>Sinon </a:t>
                      </a:r>
                    </a:p>
                    <a:p>
                      <a:r>
                        <a:rPr lang="fr-FR" sz="2000" b="1" kern="1200" baseline="0" dirty="0">
                          <a:solidFill>
                            <a:schemeClr val="dk1"/>
                          </a:solidFill>
                          <a:latin typeface="+mn-lt"/>
                          <a:ea typeface="+mn-ea"/>
                          <a:cs typeface="+mn-cs"/>
                        </a:rPr>
                        <a:t>Y</a:t>
                      </a:r>
                      <a:r>
                        <a:rPr lang="fr-FR" sz="2000" b="1" kern="1200" baseline="0" dirty="0">
                          <a:solidFill>
                            <a:schemeClr val="dk1"/>
                          </a:solidFill>
                          <a:latin typeface="+mn-lt"/>
                          <a:ea typeface="+mn-ea"/>
                          <a:cs typeface="+mn-cs"/>
                          <a:sym typeface="Wingdings" pitchFamily="2" charset="2"/>
                        </a:rPr>
                        <a:t></a:t>
                      </a:r>
                      <a:r>
                        <a:rPr lang="fr-FR" sz="2000" b="1" kern="1200" baseline="0" dirty="0">
                          <a:solidFill>
                            <a:schemeClr val="dk1"/>
                          </a:solidFill>
                          <a:latin typeface="+mn-lt"/>
                          <a:ea typeface="+mn-ea"/>
                          <a:cs typeface="+mn-cs"/>
                        </a:rPr>
                        <a:t>1 </a:t>
                      </a:r>
                    </a:p>
                    <a:p>
                      <a:r>
                        <a:rPr lang="fr-FR" sz="2000" kern="1200" baseline="0" dirty="0" err="1">
                          <a:solidFill>
                            <a:schemeClr val="dk1"/>
                          </a:solidFill>
                          <a:latin typeface="+mn-lt"/>
                          <a:ea typeface="+mn-ea"/>
                          <a:cs typeface="+mn-cs"/>
                        </a:rPr>
                        <a:t>Fsi</a:t>
                      </a:r>
                      <a:r>
                        <a:rPr lang="fr-FR" sz="2000" kern="1200" baseline="0" dirty="0">
                          <a:solidFill>
                            <a:schemeClr val="dk1"/>
                          </a:solidFill>
                          <a:latin typeface="+mn-lt"/>
                          <a:ea typeface="+mn-ea"/>
                          <a:cs typeface="+mn-cs"/>
                        </a:rPr>
                        <a:t> </a:t>
                      </a:r>
                    </a:p>
                    <a:p>
                      <a:r>
                        <a:rPr lang="fr-FR" sz="2000" kern="1200" baseline="0" dirty="0" err="1">
                          <a:solidFill>
                            <a:schemeClr val="dk1"/>
                          </a:solidFill>
                          <a:latin typeface="+mn-lt"/>
                          <a:ea typeface="+mn-ea"/>
                          <a:cs typeface="+mn-cs"/>
                        </a:rPr>
                        <a:t>Facto-R</a:t>
                      </a:r>
                      <a:r>
                        <a:rPr lang="fr-FR" sz="2000" kern="1200" baseline="0" dirty="0">
                          <a:solidFill>
                            <a:schemeClr val="dk1"/>
                          </a:solidFill>
                          <a:latin typeface="+mn-lt"/>
                          <a:ea typeface="+mn-ea"/>
                          <a:cs typeface="+mn-cs"/>
                          <a:sym typeface="Wingdings" pitchFamily="2" charset="2"/>
                        </a:rPr>
                        <a:t></a:t>
                      </a:r>
                      <a:r>
                        <a:rPr lang="fr-FR" sz="2000" kern="1200" baseline="0" dirty="0">
                          <a:solidFill>
                            <a:schemeClr val="dk1"/>
                          </a:solidFill>
                          <a:latin typeface="+mn-lt"/>
                          <a:ea typeface="+mn-ea"/>
                          <a:cs typeface="+mn-cs"/>
                        </a:rPr>
                        <a:t>Y; </a:t>
                      </a:r>
                    </a:p>
                    <a:p>
                      <a:r>
                        <a:rPr lang="fr-FR" sz="2000" kern="1200" baseline="0" dirty="0">
                          <a:solidFill>
                            <a:schemeClr val="dk1"/>
                          </a:solidFill>
                          <a:latin typeface="+mn-lt"/>
                          <a:ea typeface="+mn-ea"/>
                          <a:cs typeface="+mn-cs"/>
                        </a:rPr>
                        <a:t>Fin </a:t>
                      </a:r>
                      <a:endParaRPr lang="fr-FR" sz="2000" dirty="0"/>
                    </a:p>
                  </a:txBody>
                  <a:tcPr/>
                </a:tc>
                <a:tc>
                  <a:txBody>
                    <a:bodyPr/>
                    <a:lstStyle/>
                    <a:p>
                      <a:r>
                        <a:rPr lang="fr-FR" sz="2000" kern="1200" baseline="0" dirty="0">
                          <a:solidFill>
                            <a:schemeClr val="dk1"/>
                          </a:solidFill>
                          <a:latin typeface="+mn-lt"/>
                          <a:ea typeface="+mn-ea"/>
                          <a:cs typeface="+mn-cs"/>
                        </a:rPr>
                        <a:t>Fonction </a:t>
                      </a:r>
                      <a:r>
                        <a:rPr lang="fr-FR" sz="2000" b="1" kern="1200" baseline="0" dirty="0">
                          <a:solidFill>
                            <a:schemeClr val="dk1"/>
                          </a:solidFill>
                          <a:latin typeface="+mn-lt"/>
                          <a:ea typeface="+mn-ea"/>
                          <a:cs typeface="+mn-cs"/>
                        </a:rPr>
                        <a:t>ALGO-I (N) </a:t>
                      </a:r>
                    </a:p>
                    <a:p>
                      <a:r>
                        <a:rPr lang="fr-FR" sz="2000" b="0" kern="1200" baseline="0" dirty="0">
                          <a:solidFill>
                            <a:schemeClr val="dk1"/>
                          </a:solidFill>
                          <a:latin typeface="+mn-lt"/>
                          <a:ea typeface="+mn-ea"/>
                          <a:cs typeface="+mn-cs"/>
                        </a:rPr>
                        <a:t>Début</a:t>
                      </a:r>
                      <a:r>
                        <a:rPr lang="fr-FR" sz="2000" b="1" kern="1200" baseline="0" dirty="0">
                          <a:solidFill>
                            <a:schemeClr val="dk1"/>
                          </a:solidFill>
                          <a:latin typeface="+mn-lt"/>
                          <a:ea typeface="+mn-ea"/>
                          <a:cs typeface="+mn-cs"/>
                        </a:rPr>
                        <a:t> </a:t>
                      </a:r>
                    </a:p>
                    <a:p>
                      <a:r>
                        <a:rPr lang="fr-FR" sz="2000" b="1" kern="1200" baseline="0" dirty="0" err="1">
                          <a:solidFill>
                            <a:schemeClr val="dk1"/>
                          </a:solidFill>
                          <a:latin typeface="+mn-lt"/>
                          <a:ea typeface="+mn-ea"/>
                          <a:cs typeface="+mn-cs"/>
                        </a:rPr>
                        <a:t>Init</a:t>
                      </a:r>
                      <a:r>
                        <a:rPr lang="fr-FR" sz="2000" b="1" kern="1200" baseline="0" dirty="0">
                          <a:solidFill>
                            <a:schemeClr val="dk1"/>
                          </a:solidFill>
                          <a:latin typeface="+mn-lt"/>
                          <a:ea typeface="+mn-ea"/>
                          <a:cs typeface="+mn-cs"/>
                        </a:rPr>
                        <a:t>(P) //P contient la valeur de N. </a:t>
                      </a:r>
                    </a:p>
                    <a:p>
                      <a:r>
                        <a:rPr lang="fr-FR" sz="2000" b="1" kern="1200" baseline="0" dirty="0">
                          <a:solidFill>
                            <a:schemeClr val="dk1"/>
                          </a:solidFill>
                          <a:latin typeface="+mn-lt"/>
                          <a:ea typeface="+mn-ea"/>
                          <a:cs typeface="+mn-cs"/>
                        </a:rPr>
                        <a:t>Tant que (n&gt;1) faire </a:t>
                      </a:r>
                    </a:p>
                    <a:p>
                      <a:r>
                        <a:rPr lang="fr-FR" sz="2000" b="1" kern="1200" baseline="0" dirty="0">
                          <a:solidFill>
                            <a:schemeClr val="dk1"/>
                          </a:solidFill>
                          <a:latin typeface="+mn-lt"/>
                          <a:ea typeface="+mn-ea"/>
                          <a:cs typeface="+mn-cs"/>
                        </a:rPr>
                        <a:t>Empiler(P, N) </a:t>
                      </a:r>
                    </a:p>
                    <a:p>
                      <a:r>
                        <a:rPr lang="fr-FR" sz="2000" b="1" kern="1200" baseline="0" dirty="0">
                          <a:solidFill>
                            <a:schemeClr val="dk1"/>
                          </a:solidFill>
                          <a:latin typeface="+mn-lt"/>
                          <a:ea typeface="+mn-ea"/>
                          <a:cs typeface="+mn-cs"/>
                        </a:rPr>
                        <a:t>N</a:t>
                      </a:r>
                      <a:r>
                        <a:rPr lang="fr-FR" sz="2000" b="1" kern="1200" baseline="0" dirty="0">
                          <a:solidFill>
                            <a:schemeClr val="dk1"/>
                          </a:solidFill>
                          <a:latin typeface="+mn-lt"/>
                          <a:ea typeface="+mn-ea"/>
                          <a:cs typeface="+mn-cs"/>
                          <a:sym typeface="Wingdings" pitchFamily="2" charset="2"/>
                        </a:rPr>
                        <a:t></a:t>
                      </a:r>
                      <a:r>
                        <a:rPr lang="fr-FR" sz="2000" b="1" kern="1200" baseline="0" dirty="0">
                          <a:solidFill>
                            <a:schemeClr val="dk1"/>
                          </a:solidFill>
                          <a:latin typeface="+mn-lt"/>
                          <a:ea typeface="+mn-ea"/>
                          <a:cs typeface="+mn-cs"/>
                        </a:rPr>
                        <a:t> N-1 </a:t>
                      </a:r>
                    </a:p>
                    <a:p>
                      <a:r>
                        <a:rPr lang="fr-FR" sz="2000" b="0" kern="1200" baseline="0" dirty="0">
                          <a:solidFill>
                            <a:schemeClr val="dk1"/>
                          </a:solidFill>
                          <a:latin typeface="+mn-lt"/>
                          <a:ea typeface="+mn-ea"/>
                          <a:cs typeface="+mn-cs"/>
                        </a:rPr>
                        <a:t>FTQ </a:t>
                      </a:r>
                    </a:p>
                    <a:p>
                      <a:r>
                        <a:rPr lang="fr-FR" sz="2000" b="0" kern="1200" baseline="0" dirty="0">
                          <a:solidFill>
                            <a:schemeClr val="dk1"/>
                          </a:solidFill>
                          <a:latin typeface="+mn-lt"/>
                          <a:ea typeface="+mn-ea"/>
                          <a:cs typeface="+mn-cs"/>
                        </a:rPr>
                        <a:t>Y</a:t>
                      </a:r>
                      <a:r>
                        <a:rPr lang="fr-FR" sz="2000" b="0" kern="1200" baseline="0" dirty="0">
                          <a:solidFill>
                            <a:schemeClr val="dk1"/>
                          </a:solidFill>
                          <a:latin typeface="+mn-lt"/>
                          <a:ea typeface="+mn-ea"/>
                          <a:cs typeface="+mn-cs"/>
                          <a:sym typeface="Wingdings" pitchFamily="2" charset="2"/>
                        </a:rPr>
                        <a:t></a:t>
                      </a:r>
                      <a:r>
                        <a:rPr lang="fr-FR" sz="2000" b="0" kern="1200" baseline="0" dirty="0">
                          <a:solidFill>
                            <a:schemeClr val="dk1"/>
                          </a:solidFill>
                          <a:latin typeface="+mn-lt"/>
                          <a:ea typeface="+mn-ea"/>
                          <a:cs typeface="+mn-cs"/>
                        </a:rPr>
                        <a:t>1 </a:t>
                      </a:r>
                    </a:p>
                    <a:p>
                      <a:r>
                        <a:rPr lang="fr-FR" sz="2000" b="1" kern="1200" baseline="0" dirty="0">
                          <a:solidFill>
                            <a:schemeClr val="dk1"/>
                          </a:solidFill>
                          <a:latin typeface="+mn-lt"/>
                          <a:ea typeface="+mn-ea"/>
                          <a:cs typeface="+mn-cs"/>
                        </a:rPr>
                        <a:t>Tant que (Non Vide (P)) Faire</a:t>
                      </a:r>
                    </a:p>
                    <a:p>
                      <a:r>
                        <a:rPr lang="fr-FR" sz="2000" b="1" kern="1200" baseline="0" dirty="0">
                          <a:solidFill>
                            <a:schemeClr val="dk1"/>
                          </a:solidFill>
                          <a:latin typeface="+mn-lt"/>
                          <a:ea typeface="+mn-ea"/>
                          <a:cs typeface="+mn-cs"/>
                        </a:rPr>
                        <a:t> Dépiler(P, U) </a:t>
                      </a:r>
                    </a:p>
                    <a:p>
                      <a:r>
                        <a:rPr lang="fr-FR" sz="2000" b="1" kern="1200" baseline="0" dirty="0">
                          <a:solidFill>
                            <a:schemeClr val="dk1"/>
                          </a:solidFill>
                          <a:latin typeface="+mn-lt"/>
                          <a:ea typeface="+mn-ea"/>
                          <a:cs typeface="+mn-cs"/>
                        </a:rPr>
                        <a:t>Y </a:t>
                      </a:r>
                      <a:r>
                        <a:rPr lang="fr-FR" sz="2000" b="1" kern="1200" baseline="0" dirty="0">
                          <a:solidFill>
                            <a:schemeClr val="dk1"/>
                          </a:solidFill>
                          <a:latin typeface="+mn-lt"/>
                          <a:ea typeface="+mn-ea"/>
                          <a:cs typeface="+mn-cs"/>
                          <a:sym typeface="Wingdings" pitchFamily="2" charset="2"/>
                        </a:rPr>
                        <a:t></a:t>
                      </a:r>
                      <a:r>
                        <a:rPr lang="fr-FR" sz="2000" b="1" kern="1200" baseline="0" dirty="0">
                          <a:solidFill>
                            <a:schemeClr val="dk1"/>
                          </a:solidFill>
                          <a:latin typeface="+mn-lt"/>
                          <a:ea typeface="+mn-ea"/>
                          <a:cs typeface="+mn-cs"/>
                        </a:rPr>
                        <a:t>Y * U </a:t>
                      </a:r>
                    </a:p>
                    <a:p>
                      <a:r>
                        <a:rPr lang="fr-FR" sz="2000" b="0" kern="1200" baseline="0" dirty="0">
                          <a:solidFill>
                            <a:schemeClr val="dk1"/>
                          </a:solidFill>
                          <a:latin typeface="+mn-lt"/>
                          <a:ea typeface="+mn-ea"/>
                          <a:cs typeface="+mn-cs"/>
                        </a:rPr>
                        <a:t>FTQ</a:t>
                      </a:r>
                    </a:p>
                    <a:p>
                      <a:r>
                        <a:rPr lang="fr-FR" sz="2000" b="0" kern="1200" baseline="0" dirty="0" err="1">
                          <a:solidFill>
                            <a:schemeClr val="dk1"/>
                          </a:solidFill>
                          <a:latin typeface="+mn-lt"/>
                          <a:ea typeface="+mn-ea"/>
                          <a:cs typeface="+mn-cs"/>
                        </a:rPr>
                        <a:t>Facto-R</a:t>
                      </a:r>
                      <a:r>
                        <a:rPr lang="fr-FR" sz="2000" b="0" kern="1200" baseline="0" dirty="0">
                          <a:solidFill>
                            <a:schemeClr val="dk1"/>
                          </a:solidFill>
                          <a:latin typeface="+mn-lt"/>
                          <a:ea typeface="+mn-ea"/>
                          <a:cs typeface="+mn-cs"/>
                          <a:sym typeface="Wingdings" pitchFamily="2" charset="2"/>
                        </a:rPr>
                        <a:t></a:t>
                      </a:r>
                      <a:r>
                        <a:rPr lang="fr-FR" sz="2000" b="0" kern="1200" baseline="0" dirty="0">
                          <a:solidFill>
                            <a:schemeClr val="dk1"/>
                          </a:solidFill>
                          <a:latin typeface="+mn-lt"/>
                          <a:ea typeface="+mn-ea"/>
                          <a:cs typeface="+mn-cs"/>
                        </a:rPr>
                        <a:t>Y; </a:t>
                      </a:r>
                    </a:p>
                    <a:p>
                      <a:r>
                        <a:rPr lang="fr-FR" sz="2000" b="1" kern="1200" baseline="0" dirty="0">
                          <a:solidFill>
                            <a:schemeClr val="dk1"/>
                          </a:solidFill>
                          <a:latin typeface="+mn-lt"/>
                          <a:ea typeface="+mn-ea"/>
                          <a:cs typeface="+mn-cs"/>
                        </a:rPr>
                        <a:t>Fin </a:t>
                      </a:r>
                      <a:endParaRPr lang="fr-FR" sz="2000" dirty="0"/>
                    </a:p>
                  </a:txBody>
                  <a:tcPr/>
                </a:tc>
                <a:extLst>
                  <a:ext uri="{0D108BD9-81ED-4DB2-BD59-A6C34878D82A}">
                    <a16:rowId xmlns:a16="http://schemas.microsoft.com/office/drawing/2014/main" val="10001"/>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pPr lvl="1" algn="ctr" rtl="0">
              <a:spcBef>
                <a:spcPct val="0"/>
              </a:spcBef>
            </a:pPr>
            <a:r>
              <a:rPr lang="fr-FR" sz="2800" b="1" kern="1200" dirty="0">
                <a:solidFill>
                  <a:schemeClr val="tx1"/>
                </a:solidFill>
                <a:latin typeface="+mj-lt"/>
                <a:ea typeface="+mj-ea"/>
                <a:cs typeface="+mj-cs"/>
              </a:rPr>
              <a:t>Élimination de la récursivité: Algorithme Général </a:t>
            </a:r>
          </a:p>
        </p:txBody>
      </p:sp>
      <p:sp>
        <p:nvSpPr>
          <p:cNvPr id="3" name="Espace réservé du contenu 2"/>
          <p:cNvSpPr>
            <a:spLocks noGrp="1"/>
          </p:cNvSpPr>
          <p:nvPr>
            <p:ph idx="1"/>
          </p:nvPr>
        </p:nvSpPr>
        <p:spPr>
          <a:xfrm>
            <a:off x="457200" y="1285860"/>
            <a:ext cx="8686800" cy="5214974"/>
          </a:xfrm>
        </p:spPr>
        <p:txBody>
          <a:bodyPr>
            <a:noAutofit/>
          </a:bodyPr>
          <a:lstStyle/>
          <a:p>
            <a:pPr marL="514350" indent="-514350"/>
            <a:r>
              <a:rPr lang="fr-FR" sz="1900" b="1" dirty="0"/>
              <a:t>Définir la zone de données </a:t>
            </a:r>
          </a:p>
          <a:p>
            <a:pPr marL="914400" lvl="1" indent="-514350"/>
            <a:r>
              <a:rPr lang="fr-FR" sz="1900"/>
              <a:t>Contient </a:t>
            </a:r>
            <a:r>
              <a:rPr lang="fr-FR" sz="1900" dirty="0"/>
              <a:t>les paramètres, l’adresse du retour et les variables locales. </a:t>
            </a:r>
          </a:p>
          <a:p>
            <a:pPr marL="514350" indent="-514350"/>
            <a:r>
              <a:rPr lang="fr-FR" sz="1900" b="1" dirty="0"/>
              <a:t>Définir les points d'appel et de retour. </a:t>
            </a:r>
          </a:p>
          <a:p>
            <a:pPr lvl="1"/>
            <a:r>
              <a:rPr lang="fr-FR" sz="1900"/>
              <a:t>Il </a:t>
            </a:r>
            <a:r>
              <a:rPr lang="fr-FR" sz="1900" dirty="0"/>
              <a:t>y a donc toujours un appel dans l'algorithme appelant. C'est le premier appel</a:t>
            </a:r>
            <a:r>
              <a:rPr lang="fr-FR" sz="1900"/>
              <a:t>. </a:t>
            </a:r>
            <a:endParaRPr lang="fr-FR" sz="1900" dirty="0"/>
          </a:p>
          <a:p>
            <a:r>
              <a:rPr lang="fr-FR" sz="1900" b="1" dirty="0"/>
              <a:t>Appel de </a:t>
            </a:r>
            <a:r>
              <a:rPr lang="fr-FR" sz="1900" b="1"/>
              <a:t>la fonction </a:t>
            </a:r>
            <a:endParaRPr lang="fr-FR" sz="1900" b="1" dirty="0"/>
          </a:p>
          <a:p>
            <a:pPr lvl="1"/>
            <a:r>
              <a:rPr lang="fr-FR" sz="1900"/>
              <a:t>	Empiler </a:t>
            </a:r>
            <a:r>
              <a:rPr lang="fr-FR" sz="1900" dirty="0"/>
              <a:t>la zone de données courante. </a:t>
            </a:r>
          </a:p>
          <a:p>
            <a:pPr lvl="1"/>
            <a:r>
              <a:rPr lang="fr-FR" sz="1900"/>
              <a:t>	Préparer </a:t>
            </a:r>
            <a:r>
              <a:rPr lang="fr-FR" sz="1900" dirty="0"/>
              <a:t>le nouvel appel en préparant la nouvelle zone de données avec les paramètres (passage de paramètres) et avec l'adresse de retour (point d'appel). </a:t>
            </a:r>
          </a:p>
          <a:p>
            <a:pPr lvl="1"/>
            <a:r>
              <a:rPr lang="fr-FR" sz="1900"/>
              <a:t>	Se </a:t>
            </a:r>
            <a:r>
              <a:rPr lang="fr-FR" sz="1900" dirty="0"/>
              <a:t>brancher vers le début de la fonction</a:t>
            </a:r>
            <a:r>
              <a:rPr lang="fr-FR" sz="1900"/>
              <a:t>. </a:t>
            </a:r>
            <a:endParaRPr lang="fr-FR" sz="1900" dirty="0"/>
          </a:p>
          <a:p>
            <a:r>
              <a:rPr lang="fr-FR" sz="1900" b="1" dirty="0"/>
              <a:t>Retour de </a:t>
            </a:r>
            <a:r>
              <a:rPr lang="fr-FR" sz="1900" b="1"/>
              <a:t>la fonction</a:t>
            </a:r>
            <a:endParaRPr lang="fr-FR" sz="1900" b="1" dirty="0"/>
          </a:p>
          <a:p>
            <a:pPr lvl="1"/>
            <a:r>
              <a:rPr lang="fr-FR" sz="1900"/>
              <a:t>	Récupérer </a:t>
            </a:r>
            <a:r>
              <a:rPr lang="fr-FR" sz="1900" dirty="0"/>
              <a:t>l'adresse de retour qui se trouve dans la zone de données courante. </a:t>
            </a:r>
          </a:p>
          <a:p>
            <a:pPr lvl="1"/>
            <a:r>
              <a:rPr lang="fr-FR" sz="1900"/>
              <a:t>	Dépiler </a:t>
            </a:r>
            <a:r>
              <a:rPr lang="fr-FR" sz="1900" dirty="0"/>
              <a:t>une zone de donnée (restaurer la dernière sauvegardée) </a:t>
            </a:r>
          </a:p>
          <a:p>
            <a:pPr lvl="1"/>
            <a:r>
              <a:rPr lang="fr-FR" sz="1900"/>
              <a:t>	Se </a:t>
            </a:r>
            <a:r>
              <a:rPr lang="fr-FR" sz="1900" dirty="0"/>
              <a:t>brancher vers cette adresse</a:t>
            </a:r>
            <a:r>
              <a:rPr lang="fr-FR" sz="1900"/>
              <a:t>. </a:t>
            </a:r>
            <a:endParaRPr lang="fr-FR"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Conclusion</a:t>
            </a:r>
          </a:p>
        </p:txBody>
      </p:sp>
      <p:sp>
        <p:nvSpPr>
          <p:cNvPr id="3" name="Espace réservé du contenu 2"/>
          <p:cNvSpPr>
            <a:spLocks noGrp="1"/>
          </p:cNvSpPr>
          <p:nvPr>
            <p:ph idx="1"/>
          </p:nvPr>
        </p:nvSpPr>
        <p:spPr/>
        <p:txBody>
          <a:bodyPr>
            <a:normAutofit fontScale="92500"/>
          </a:bodyPr>
          <a:lstStyle/>
          <a:p>
            <a:r>
              <a:rPr lang="fr-FR" dirty="0"/>
              <a:t>Les programmes itératifs sont souvent plus efficaces, mais les programmes récursifs sont plus faciles à écrire. </a:t>
            </a:r>
          </a:p>
          <a:p>
            <a:r>
              <a:rPr lang="fr-FR" dirty="0"/>
              <a:t>Les compilateurs savent, la plupart du temps, reconnaître les appels récursifs terminaux, et ceux-ci n’engendrent pas de surcoût par rapport à la version itérative du même programme. </a:t>
            </a:r>
          </a:p>
          <a:p>
            <a:r>
              <a:rPr lang="fr-FR" dirty="0"/>
              <a:t>Il est toujours possible de </a:t>
            </a:r>
            <a:r>
              <a:rPr lang="fr-FR" dirty="0" err="1"/>
              <a:t>dérécursiver</a:t>
            </a:r>
            <a:r>
              <a:rPr lang="fr-FR" dirty="0"/>
              <a:t> un algorithme récursif. </a:t>
            </a:r>
          </a:p>
          <a:p>
            <a:endParaRPr lang="fr-FR" dirty="0"/>
          </a:p>
        </p:txBody>
      </p:sp>
    </p:spTree>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272</TotalTime>
  <Words>1187</Words>
  <Application>Microsoft Office PowerPoint</Application>
  <PresentationFormat>Affichage à l'écran (4:3)</PresentationFormat>
  <Paragraphs>185</Paragraphs>
  <Slides>14</Slides>
  <Notes>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14</vt:i4>
      </vt:variant>
    </vt:vector>
  </HeadingPairs>
  <TitlesOfParts>
    <vt:vector size="18" baseType="lpstr">
      <vt:lpstr>Arial</vt:lpstr>
      <vt:lpstr>Calibri</vt:lpstr>
      <vt:lpstr>Wingdings</vt:lpstr>
      <vt:lpstr>Thème Office</vt:lpstr>
      <vt:lpstr>Récursivité et Paradigme Diviser pour Régner</vt:lpstr>
      <vt:lpstr> PARTIE 3: La dérécursivation </vt:lpstr>
      <vt:lpstr>Généralités </vt:lpstr>
      <vt:lpstr>Élimination de la récursivité terminale simple </vt:lpstr>
      <vt:lpstr>Élimination de la récursivité terminale simple </vt:lpstr>
      <vt:lpstr>Élimination de la récursivité terminale simple  Exemple : factorielle</vt:lpstr>
      <vt:lpstr>Élimination de la récursivité terminale multiple  Exemple : PGCD </vt:lpstr>
      <vt:lpstr>Élimination de la récursivité non terminale simple </vt:lpstr>
      <vt:lpstr>Élimination de la récursivité non terminale simple </vt:lpstr>
      <vt:lpstr>Élimination de la récursivité non terminale simple </vt:lpstr>
      <vt:lpstr>Élimination de la récursivité non terminale simple </vt:lpstr>
      <vt:lpstr>Élimination de la récursivité non terminale simple  Exemple : factorielle</vt:lpstr>
      <vt:lpstr>Élimination de la récursivité: Algorithme Général </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Récursivité et Paradigme Diviser pour Régner</dc:title>
  <dc:creator>info</dc:creator>
  <cp:lastModifiedBy>zouheyr bouafia</cp:lastModifiedBy>
  <cp:revision>28</cp:revision>
  <dcterms:created xsi:type="dcterms:W3CDTF">2022-10-22T08:27:18Z</dcterms:created>
  <dcterms:modified xsi:type="dcterms:W3CDTF">2025-10-19T09:31:16Z</dcterms:modified>
</cp:coreProperties>
</file>